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0" r:id="rId10"/>
    <p:sldId id="281" r:id="rId11"/>
    <p:sldId id="282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ADBC2-4714-4907-B628-F523D2DF7D2C}" v="24" dt="2026-06-15T08:18:10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7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EK SROS" userId="8cedbad3-deec-40fb-8571-6ca7f038b51b" providerId="ADAL" clId="{2B96A9BE-95F9-4E01-93AE-2FD10B1E2391}"/>
    <pc:docChg chg="undo custSel addSld delSld modSld">
      <pc:chgData name="NHEK SROS" userId="8cedbad3-deec-40fb-8571-6ca7f038b51b" providerId="ADAL" clId="{2B96A9BE-95F9-4E01-93AE-2FD10B1E2391}" dt="2026-06-15T08:21:46.220" v="291" actId="1076"/>
      <pc:docMkLst>
        <pc:docMk/>
      </pc:docMkLst>
      <pc:sldChg chg="modSp mod">
        <pc:chgData name="NHEK SROS" userId="8cedbad3-deec-40fb-8571-6ca7f038b51b" providerId="ADAL" clId="{2B96A9BE-95F9-4E01-93AE-2FD10B1E2391}" dt="2026-06-15T08:18:13.306" v="289" actId="20577"/>
        <pc:sldMkLst>
          <pc:docMk/>
          <pc:sldMk cId="0" sldId="256"/>
        </pc:sldMkLst>
        <pc:spChg chg="mod">
          <ac:chgData name="NHEK SROS" userId="8cedbad3-deec-40fb-8571-6ca7f038b51b" providerId="ADAL" clId="{2B96A9BE-95F9-4E01-93AE-2FD10B1E2391}" dt="2026-06-15T08:18:13.306" v="289" actId="20577"/>
          <ac:spMkLst>
            <pc:docMk/>
            <pc:sldMk cId="0" sldId="256"/>
            <ac:spMk id="24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6-15T07:53:48.457" v="207" actId="1076"/>
        <pc:sldMkLst>
          <pc:docMk/>
          <pc:sldMk cId="0" sldId="258"/>
        </pc:sldMkLst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2.944" v="206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3:48.457" v="207" actId="1076"/>
          <ac:spMkLst>
            <pc:docMk/>
            <pc:sldMk cId="0" sldId="258"/>
            <ac:spMk id="34" creationId="{00000000-0000-0000-0000-000000000000}"/>
          </ac:spMkLst>
        </pc:spChg>
      </pc:sldChg>
      <pc:sldChg chg="addSp delSp modSp mod">
        <pc:chgData name="NHEK SROS" userId="8cedbad3-deec-40fb-8571-6ca7f038b51b" providerId="ADAL" clId="{2B96A9BE-95F9-4E01-93AE-2FD10B1E2391}" dt="2026-06-15T08:21:46.220" v="291" actId="1076"/>
        <pc:sldMkLst>
          <pc:docMk/>
          <pc:sldMk cId="0" sldId="259"/>
        </pc:sldMkLst>
        <pc:spChg chg="ord">
          <ac:chgData name="NHEK SROS" userId="8cedbad3-deec-40fb-8571-6ca7f038b51b" providerId="ADAL" clId="{2B96A9BE-95F9-4E01-93AE-2FD10B1E2391}" dt="2026-06-15T07:55:01.993" v="219" actId="167"/>
          <ac:spMkLst>
            <pc:docMk/>
            <pc:sldMk cId="0" sldId="259"/>
            <ac:spMk id="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37:41.003" v="10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4:08.908" v="210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4:18.978" v="21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4:42.666" v="128" actId="1076"/>
          <ac:spMkLst>
            <pc:docMk/>
            <pc:sldMk cId="0" sldId="259"/>
            <ac:spMk id="34" creationId="{00000000-0000-0000-0000-000000000000}"/>
          </ac:spMkLst>
        </pc:spChg>
        <pc:spChg chg="add del mod ord">
          <ac:chgData name="NHEK SROS" userId="8cedbad3-deec-40fb-8571-6ca7f038b51b" providerId="ADAL" clId="{2B96A9BE-95F9-4E01-93AE-2FD10B1E2391}" dt="2026-06-15T07:55:31.476" v="228" actId="478"/>
          <ac:spMkLst>
            <pc:docMk/>
            <pc:sldMk cId="0" sldId="259"/>
            <ac:spMk id="37" creationId="{C1058096-996C-5F20-7859-1E57D09637A5}"/>
          </ac:spMkLst>
        </pc:spChg>
        <pc:picChg chg="del mod">
          <ac:chgData name="NHEK SROS" userId="8cedbad3-deec-40fb-8571-6ca7f038b51b" providerId="ADAL" clId="{2B96A9BE-95F9-4E01-93AE-2FD10B1E2391}" dt="2026-06-15T07:54:31.109" v="213" actId="478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6-15T07:54:05.113" v="209" actId="14100"/>
          <ac:picMkLst>
            <pc:docMk/>
            <pc:sldMk cId="0" sldId="259"/>
            <ac:picMk id="8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6-15T08:21:46.220" v="291" actId="1076"/>
          <ac:picMkLst>
            <pc:docMk/>
            <pc:sldMk cId="0" sldId="259"/>
            <ac:picMk id="36" creationId="{E7A50033-B7E6-0CDE-135A-D96C0085AF67}"/>
          </ac:picMkLst>
        </pc:picChg>
        <pc:picChg chg="add del">
          <ac:chgData name="NHEK SROS" userId="8cedbad3-deec-40fb-8571-6ca7f038b51b" providerId="ADAL" clId="{2B96A9BE-95F9-4E01-93AE-2FD10B1E2391}" dt="2026-06-15T07:04:57.064" v="131" actId="22"/>
          <ac:picMkLst>
            <pc:docMk/>
            <pc:sldMk cId="0" sldId="259"/>
            <ac:picMk id="37" creationId="{EAED6F3B-8B1C-99BB-E425-62F0D47EB673}"/>
          </ac:picMkLst>
        </pc:picChg>
        <pc:picChg chg="add mod">
          <ac:chgData name="NHEK SROS" userId="8cedbad3-deec-40fb-8571-6ca7f038b51b" providerId="ADAL" clId="{2B96A9BE-95F9-4E01-93AE-2FD10B1E2391}" dt="2026-06-15T07:05:08.053" v="135" actId="1076"/>
          <ac:picMkLst>
            <pc:docMk/>
            <pc:sldMk cId="0" sldId="259"/>
            <ac:picMk id="38" creationId="{7759C663-46A1-A9CB-0B8E-A9C21817D3E8}"/>
          </ac:picMkLst>
        </pc:picChg>
        <pc:picChg chg="add mod">
          <ac:chgData name="NHEK SROS" userId="8cedbad3-deec-40fb-8571-6ca7f038b51b" providerId="ADAL" clId="{2B96A9BE-95F9-4E01-93AE-2FD10B1E2391}" dt="2026-06-15T07:05:40.918" v="141" actId="1076"/>
          <ac:picMkLst>
            <pc:docMk/>
            <pc:sldMk cId="0" sldId="259"/>
            <ac:picMk id="39" creationId="{C5FC165F-5F31-315E-E736-CE5C275FC178}"/>
          </ac:picMkLst>
        </pc:picChg>
        <pc:picChg chg="add mod">
          <ac:chgData name="NHEK SROS" userId="8cedbad3-deec-40fb-8571-6ca7f038b51b" providerId="ADAL" clId="{2B96A9BE-95F9-4E01-93AE-2FD10B1E2391}" dt="2026-06-15T07:06:20.722" v="145" actId="1076"/>
          <ac:picMkLst>
            <pc:docMk/>
            <pc:sldMk cId="0" sldId="259"/>
            <ac:picMk id="40" creationId="{5208569B-44B0-B644-F09D-FD6C23076DFC}"/>
          </ac:picMkLst>
        </pc:picChg>
        <pc:picChg chg="add mod">
          <ac:chgData name="NHEK SROS" userId="8cedbad3-deec-40fb-8571-6ca7f038b51b" providerId="ADAL" clId="{2B96A9BE-95F9-4E01-93AE-2FD10B1E2391}" dt="2026-06-15T07:06:44.992" v="148" actId="1076"/>
          <ac:picMkLst>
            <pc:docMk/>
            <pc:sldMk cId="0" sldId="259"/>
            <ac:picMk id="41" creationId="{B66A53DE-931D-F14E-A598-D32E4FB58C9A}"/>
          </ac:picMkLst>
        </pc:picChg>
        <pc:picChg chg="add mod">
          <ac:chgData name="NHEK SROS" userId="8cedbad3-deec-40fb-8571-6ca7f038b51b" providerId="ADAL" clId="{2B96A9BE-95F9-4E01-93AE-2FD10B1E2391}" dt="2026-06-15T07:07:31.656" v="154" actId="1076"/>
          <ac:picMkLst>
            <pc:docMk/>
            <pc:sldMk cId="0" sldId="259"/>
            <ac:picMk id="42" creationId="{C4B8647E-E4FF-576B-2868-77B16DE0521C}"/>
          </ac:picMkLst>
        </pc:picChg>
        <pc:picChg chg="add del mod">
          <ac:chgData name="NHEK SROS" userId="8cedbad3-deec-40fb-8571-6ca7f038b51b" providerId="ADAL" clId="{2B96A9BE-95F9-4E01-93AE-2FD10B1E2391}" dt="2026-06-15T07:08:14.228" v="159" actId="478"/>
          <ac:picMkLst>
            <pc:docMk/>
            <pc:sldMk cId="0" sldId="259"/>
            <ac:picMk id="43" creationId="{D05EEE29-DA2B-B066-30A8-79DF5FE0176E}"/>
          </ac:picMkLst>
        </pc:picChg>
        <pc:picChg chg="add mod">
          <ac:chgData name="NHEK SROS" userId="8cedbad3-deec-40fb-8571-6ca7f038b51b" providerId="ADAL" clId="{2B96A9BE-95F9-4E01-93AE-2FD10B1E2391}" dt="2026-06-15T07:08:32.818" v="164" actId="14100"/>
          <ac:picMkLst>
            <pc:docMk/>
            <pc:sldMk cId="0" sldId="259"/>
            <ac:picMk id="44" creationId="{28D9567D-9E4D-6EF3-4665-E2EE02DCB964}"/>
          </ac:picMkLst>
        </pc:picChg>
      </pc:sldChg>
      <pc:sldChg chg="addSp modSp mod">
        <pc:chgData name="NHEK SROS" userId="8cedbad3-deec-40fb-8571-6ca7f038b51b" providerId="ADAL" clId="{2B96A9BE-95F9-4E01-93AE-2FD10B1E2391}" dt="2026-06-15T06:38:43.474" v="88" actId="1076"/>
        <pc:sldMkLst>
          <pc:docMk/>
          <pc:sldMk cId="0" sldId="260"/>
        </pc:sldMkLst>
        <pc:spChg chg="mod">
          <ac:chgData name="NHEK SROS" userId="8cedbad3-deec-40fb-8571-6ca7f038b51b" providerId="ADAL" clId="{2B96A9BE-95F9-4E01-93AE-2FD10B1E2391}" dt="2026-06-15T06:35:59.158" v="3" actId="14100"/>
          <ac:spMkLst>
            <pc:docMk/>
            <pc:sldMk cId="0" sldId="260"/>
            <ac:spMk id="4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6-15T06:38:38.825" v="87" actId="1037"/>
          <ac:picMkLst>
            <pc:docMk/>
            <pc:sldMk cId="0" sldId="260"/>
            <ac:picMk id="15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6-15T06:38:38.825" v="87" actId="1037"/>
          <ac:picMkLst>
            <pc:docMk/>
            <pc:sldMk cId="0" sldId="260"/>
            <ac:picMk id="21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6-15T06:38:38.825" v="87" actId="1037"/>
          <ac:picMkLst>
            <pc:docMk/>
            <pc:sldMk cId="0" sldId="260"/>
            <ac:picMk id="27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6-15T06:38:38.825" v="87" actId="1037"/>
          <ac:picMkLst>
            <pc:docMk/>
            <pc:sldMk cId="0" sldId="260"/>
            <ac:picMk id="33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6-15T06:38:38.825" v="87" actId="1037"/>
          <ac:picMkLst>
            <pc:docMk/>
            <pc:sldMk cId="0" sldId="260"/>
            <ac:picMk id="39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6-15T06:38:38.825" v="87" actId="1037"/>
          <ac:picMkLst>
            <pc:docMk/>
            <pc:sldMk cId="0" sldId="260"/>
            <ac:picMk id="45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6-15T06:38:43.474" v="88" actId="1076"/>
          <ac:picMkLst>
            <pc:docMk/>
            <pc:sldMk cId="0" sldId="260"/>
            <ac:picMk id="49" creationId="{0970A3CB-8D1B-CDB5-2174-5EF10E71AB1F}"/>
          </ac:picMkLst>
        </pc:picChg>
        <pc:picChg chg="add mod">
          <ac:chgData name="NHEK SROS" userId="8cedbad3-deec-40fb-8571-6ca7f038b51b" providerId="ADAL" clId="{2B96A9BE-95F9-4E01-93AE-2FD10B1E2391}" dt="2026-06-15T06:38:22.424" v="20" actId="1076"/>
          <ac:picMkLst>
            <pc:docMk/>
            <pc:sldMk cId="0" sldId="260"/>
            <ac:picMk id="51" creationId="{7A7102F4-0D7E-2476-69C6-5DF724ABA554}"/>
          </ac:picMkLst>
        </pc:picChg>
      </pc:sldChg>
      <pc:sldChg chg="modSp mod modNotesTx">
        <pc:chgData name="NHEK SROS" userId="8cedbad3-deec-40fb-8571-6ca7f038b51b" providerId="ADAL" clId="{2B96A9BE-95F9-4E01-93AE-2FD10B1E2391}" dt="2026-06-15T06:42:07.524" v="94" actId="1076"/>
        <pc:sldMkLst>
          <pc:docMk/>
          <pc:sldMk cId="0" sldId="261"/>
        </pc:sldMkLst>
        <pc:spChg chg="mod">
          <ac:chgData name="NHEK SROS" userId="8cedbad3-deec-40fb-8571-6ca7f038b51b" providerId="ADAL" clId="{2B96A9BE-95F9-4E01-93AE-2FD10B1E2391}" dt="2026-06-15T06:42:07.524" v="94" actId="1076"/>
          <ac:spMkLst>
            <pc:docMk/>
            <pc:sldMk cId="0" sldId="261"/>
            <ac:spMk id="31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6-15T06:49:41.545" v="100" actId="1076"/>
        <pc:sldMkLst>
          <pc:docMk/>
          <pc:sldMk cId="0" sldId="263"/>
        </pc:sldMkLst>
        <pc:spChg chg="mod">
          <ac:chgData name="NHEK SROS" userId="8cedbad3-deec-40fb-8571-6ca7f038b51b" providerId="ADAL" clId="{2B96A9BE-95F9-4E01-93AE-2FD10B1E2391}" dt="2026-06-15T06:49:41.545" v="100" actId="1076"/>
          <ac:spMkLst>
            <pc:docMk/>
            <pc:sldMk cId="0" sldId="263"/>
            <ac:spMk id="8" creationId="{00000000-0000-0000-0000-000000000000}"/>
          </ac:spMkLst>
        </pc:spChg>
      </pc:sldChg>
      <pc:sldChg chg="addSp delSp modSp mod">
        <pc:chgData name="NHEK SROS" userId="8cedbad3-deec-40fb-8571-6ca7f038b51b" providerId="ADAL" clId="{2B96A9BE-95F9-4E01-93AE-2FD10B1E2391}" dt="2026-06-15T08:08:10.226" v="278" actId="208"/>
        <pc:sldMkLst>
          <pc:docMk/>
          <pc:sldMk cId="0" sldId="264"/>
        </pc:sldMkLst>
        <pc:spChg chg="mod">
          <ac:chgData name="NHEK SROS" userId="8cedbad3-deec-40fb-8571-6ca7f038b51b" providerId="ADAL" clId="{2B96A9BE-95F9-4E01-93AE-2FD10B1E2391}" dt="2026-06-15T08:08:10.226" v="278" actId="208"/>
          <ac:spMkLst>
            <pc:docMk/>
            <pc:sldMk cId="0" sldId="264"/>
            <ac:spMk id="28" creationId="{00000000-0000-0000-0000-000000000000}"/>
          </ac:spMkLst>
        </pc:spChg>
        <pc:spChg chg="add del mod ord">
          <ac:chgData name="NHEK SROS" userId="8cedbad3-deec-40fb-8571-6ca7f038b51b" providerId="ADAL" clId="{2B96A9BE-95F9-4E01-93AE-2FD10B1E2391}" dt="2026-06-15T07:38:59.900" v="205" actId="478"/>
          <ac:spMkLst>
            <pc:docMk/>
            <pc:sldMk cId="0" sldId="264"/>
            <ac:spMk id="53" creationId="{50A4C988-3701-1BA9-4BF8-CCD566600D5A}"/>
          </ac:spMkLst>
        </pc:spChg>
      </pc:sldChg>
      <pc:sldChg chg="modSp mod">
        <pc:chgData name="NHEK SROS" userId="8cedbad3-deec-40fb-8571-6ca7f038b51b" providerId="ADAL" clId="{2B96A9BE-95F9-4E01-93AE-2FD10B1E2391}" dt="2026-06-15T06:51:53.976" v="107" actId="14100"/>
        <pc:sldMkLst>
          <pc:docMk/>
          <pc:sldMk cId="0" sldId="265"/>
        </pc:sldMkLst>
        <pc:spChg chg="mod">
          <ac:chgData name="NHEK SROS" userId="8cedbad3-deec-40fb-8571-6ca7f038b51b" providerId="ADAL" clId="{2B96A9BE-95F9-4E01-93AE-2FD10B1E2391}" dt="2026-06-15T06:51:53.976" v="107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1:53.735" v="106" actId="14100"/>
          <ac:spMkLst>
            <pc:docMk/>
            <pc:sldMk cId="0" sldId="265"/>
            <ac:spMk id="15" creationId="{00000000-0000-0000-0000-000000000000}"/>
          </ac:spMkLst>
        </pc:spChg>
      </pc:sldChg>
      <pc:sldChg chg="delSp modSp mod">
        <pc:chgData name="NHEK SROS" userId="8cedbad3-deec-40fb-8571-6ca7f038b51b" providerId="ADAL" clId="{2B96A9BE-95F9-4E01-93AE-2FD10B1E2391}" dt="2026-06-15T08:08:53.949" v="280" actId="14100"/>
        <pc:sldMkLst>
          <pc:docMk/>
          <pc:sldMk cId="0" sldId="267"/>
        </pc:sldMkLst>
        <pc:spChg chg="mod">
          <ac:chgData name="NHEK SROS" userId="8cedbad3-deec-40fb-8571-6ca7f038b51b" providerId="ADAL" clId="{2B96A9BE-95F9-4E01-93AE-2FD10B1E2391}" dt="2026-06-15T08:08:50.461" v="279" actId="14100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NHEK SROS" userId="8cedbad3-deec-40fb-8571-6ca7f038b51b" providerId="ADAL" clId="{2B96A9BE-95F9-4E01-93AE-2FD10B1E2391}" dt="2026-06-15T06:54:39.531" v="109" actId="478"/>
          <ac:spMkLst>
            <pc:docMk/>
            <pc:sldMk cId="0" sldId="267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5:39.711" v="111" actId="1410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8:08:53.949" v="280" actId="1410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00.833" v="112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00.833" v="112" actId="107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00.833" v="112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00.833" v="112" actId="107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00.833" v="112" actId="1076"/>
          <ac:spMkLst>
            <pc:docMk/>
            <pc:sldMk cId="0" sldId="267"/>
            <ac:spMk id="3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00.833" v="112" actId="1076"/>
          <ac:spMkLst>
            <pc:docMk/>
            <pc:sldMk cId="0" sldId="267"/>
            <ac:spMk id="4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6:10.501" v="113" actId="20577"/>
          <ac:spMkLst>
            <pc:docMk/>
            <pc:sldMk cId="0" sldId="267"/>
            <ac:spMk id="45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6-15T08:09:15.175" v="282" actId="14100"/>
        <pc:sldMkLst>
          <pc:docMk/>
          <pc:sldMk cId="0" sldId="268"/>
        </pc:sldMkLst>
        <pc:spChg chg="mod">
          <ac:chgData name="NHEK SROS" userId="8cedbad3-deec-40fb-8571-6ca7f038b51b" providerId="ADAL" clId="{2B96A9BE-95F9-4E01-93AE-2FD10B1E2391}" dt="2026-06-15T08:09:01.555" v="281" actId="1410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3:39.976" v="185" actId="103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8:09:15.175" v="282" actId="14100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3:24.178" v="177" actId="14100"/>
          <ac:spMkLst>
            <pc:docMk/>
            <pc:sldMk cId="0" sldId="268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3:28.654" v="178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3:31.864" v="179" actId="14100"/>
          <ac:spMkLst>
            <pc:docMk/>
            <pc:sldMk cId="0" sldId="268"/>
            <ac:spMk id="23" creationId="{00000000-0000-0000-0000-000000000000}"/>
          </ac:spMkLst>
        </pc:spChg>
        <pc:graphicFrameChg chg="mod">
          <ac:chgData name="NHEK SROS" userId="8cedbad3-deec-40fb-8571-6ca7f038b51b" providerId="ADAL" clId="{2B96A9BE-95F9-4E01-93AE-2FD10B1E2391}" dt="2026-06-15T06:56:58.187" v="117" actId="207"/>
          <ac:graphicFrameMkLst>
            <pc:docMk/>
            <pc:sldMk cId="0" sldId="268"/>
            <ac:graphicFrameMk id="18" creationId="{00000000-0000-0000-0000-000000000000}"/>
          </ac:graphicFrameMkLst>
        </pc:graphicFrameChg>
      </pc:sldChg>
      <pc:sldChg chg="modSp mod">
        <pc:chgData name="NHEK SROS" userId="8cedbad3-deec-40fb-8571-6ca7f038b51b" providerId="ADAL" clId="{2B96A9BE-95F9-4E01-93AE-2FD10B1E2391}" dt="2026-06-15T07:24:37.482" v="193" actId="1076"/>
        <pc:sldMkLst>
          <pc:docMk/>
          <pc:sldMk cId="0" sldId="270"/>
        </pc:sldMkLst>
        <pc:spChg chg="mod">
          <ac:chgData name="NHEK SROS" userId="8cedbad3-deec-40fb-8571-6ca7f038b51b" providerId="ADAL" clId="{2B96A9BE-95F9-4E01-93AE-2FD10B1E2391}" dt="2026-06-15T07:24:29.327" v="192" actId="103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4:29.327" v="192" actId="1036"/>
          <ac:spMkLst>
            <pc:docMk/>
            <pc:sldMk cId="0" sldId="270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4:29.327" v="192" actId="103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4:29.327" v="192" actId="1036"/>
          <ac:spMkLst>
            <pc:docMk/>
            <pc:sldMk cId="0" sldId="270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03:15.721" v="122" actId="14100"/>
          <ac:spMkLst>
            <pc:docMk/>
            <pc:sldMk cId="0" sldId="270"/>
            <ac:spMk id="3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4:37.482" v="193" actId="1076"/>
          <ac:spMkLst>
            <pc:docMk/>
            <pc:sldMk cId="0" sldId="270"/>
            <ac:spMk id="37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6-15T08:16:46.896" v="286" actId="14100"/>
        <pc:sldMkLst>
          <pc:docMk/>
          <pc:sldMk cId="0" sldId="271"/>
        </pc:sldMkLst>
        <pc:spChg chg="mod">
          <ac:chgData name="NHEK SROS" userId="8cedbad3-deec-40fb-8571-6ca7f038b51b" providerId="ADAL" clId="{2B96A9BE-95F9-4E01-93AE-2FD10B1E2391}" dt="2026-06-15T07:25:13.964" v="196" actId="14100"/>
          <ac:spMkLst>
            <pc:docMk/>
            <pc:sldMk cId="0" sldId="271"/>
            <ac:spMk id="4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4:58.250" v="194" actId="107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8:16:40.549" v="284" actId="1076"/>
          <ac:spMkLst>
            <pc:docMk/>
            <pc:sldMk cId="0" sldId="271"/>
            <ac:spMk id="4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8:16:43.339" v="285" actId="14100"/>
          <ac:spMkLst>
            <pc:docMk/>
            <pc:sldMk cId="0" sldId="271"/>
            <ac:spMk id="4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5:17.285" v="197" actId="14100"/>
          <ac:spMkLst>
            <pc:docMk/>
            <pc:sldMk cId="0" sldId="271"/>
            <ac:spMk id="4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24:58.250" v="194" actId="1076"/>
          <ac:spMkLst>
            <pc:docMk/>
            <pc:sldMk cId="0" sldId="271"/>
            <ac:spMk id="4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8:16:37.263" v="283" actId="1076"/>
          <ac:spMkLst>
            <pc:docMk/>
            <pc:sldMk cId="0" sldId="271"/>
            <ac:spMk id="4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8:16:46.896" v="286" actId="14100"/>
          <ac:spMkLst>
            <pc:docMk/>
            <pc:sldMk cId="0" sldId="271"/>
            <ac:spMk id="49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6-15T06:59:08.039" v="120" actId="14100"/>
        <pc:sldMkLst>
          <pc:docMk/>
          <pc:sldMk cId="0" sldId="273"/>
        </pc:sldMkLst>
        <pc:spChg chg="mod">
          <ac:chgData name="NHEK SROS" userId="8cedbad3-deec-40fb-8571-6ca7f038b51b" providerId="ADAL" clId="{2B96A9BE-95F9-4E01-93AE-2FD10B1E2391}" dt="2026-06-15T06:59:01.512" v="118" actId="14100"/>
          <ac:spMkLst>
            <pc:docMk/>
            <pc:sldMk cId="0" sldId="273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9:04.970" v="119" actId="14100"/>
          <ac:spMkLst>
            <pc:docMk/>
            <pc:sldMk cId="0" sldId="273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6:59:08.039" v="120" actId="14100"/>
          <ac:spMkLst>
            <pc:docMk/>
            <pc:sldMk cId="0" sldId="273"/>
            <ac:spMk id="38" creationId="{00000000-0000-0000-0000-000000000000}"/>
          </ac:spMkLst>
        </pc:spChg>
      </pc:sldChg>
      <pc:sldChg chg="del">
        <pc:chgData name="NHEK SROS" userId="8cedbad3-deec-40fb-8571-6ca7f038b51b" providerId="ADAL" clId="{2B96A9BE-95F9-4E01-93AE-2FD10B1E2391}" dt="2026-06-15T07:26:42.350" v="199" actId="47"/>
        <pc:sldMkLst>
          <pc:docMk/>
          <pc:sldMk cId="0" sldId="276"/>
        </pc:sldMkLst>
      </pc:sldChg>
      <pc:sldChg chg="modSp mod">
        <pc:chgData name="NHEK SROS" userId="8cedbad3-deec-40fb-8571-6ca7f038b51b" providerId="ADAL" clId="{2B96A9BE-95F9-4E01-93AE-2FD10B1E2391}" dt="2026-06-15T06:59:57.297" v="121" actId="20577"/>
        <pc:sldMkLst>
          <pc:docMk/>
          <pc:sldMk cId="0" sldId="277"/>
        </pc:sldMkLst>
        <pc:spChg chg="mod">
          <ac:chgData name="NHEK SROS" userId="8cedbad3-deec-40fb-8571-6ca7f038b51b" providerId="ADAL" clId="{2B96A9BE-95F9-4E01-93AE-2FD10B1E2391}" dt="2026-06-15T06:59:57.297" v="121" actId="20577"/>
          <ac:spMkLst>
            <pc:docMk/>
            <pc:sldMk cId="0" sldId="277"/>
            <ac:spMk id="25" creationId="{00000000-0000-0000-0000-000000000000}"/>
          </ac:spMkLst>
        </pc:spChg>
      </pc:sldChg>
      <pc:sldChg chg="addSp delSp modSp add mod setBg">
        <pc:chgData name="NHEK SROS" userId="8cedbad3-deec-40fb-8571-6ca7f038b51b" providerId="ADAL" clId="{2B96A9BE-95F9-4E01-93AE-2FD10B1E2391}" dt="2026-06-15T08:00:06.790" v="257" actId="1076"/>
        <pc:sldMkLst>
          <pc:docMk/>
          <pc:sldMk cId="0" sldId="278"/>
        </pc:sldMkLst>
        <pc:spChg chg="mod">
          <ac:chgData name="NHEK SROS" userId="8cedbad3-deec-40fb-8571-6ca7f038b51b" providerId="ADAL" clId="{2B96A9BE-95F9-4E01-93AE-2FD10B1E2391}" dt="2026-06-15T07:59:21.167" v="254" actId="164"/>
          <ac:spMkLst>
            <pc:docMk/>
            <pc:sldMk cId="0" sldId="278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1.167" v="254" actId="164"/>
          <ac:spMkLst>
            <pc:docMk/>
            <pc:sldMk cId="0" sldId="278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1.167" v="254" actId="164"/>
          <ac:spMkLst>
            <pc:docMk/>
            <pc:sldMk cId="0" sldId="278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0.843" v="253" actId="164"/>
          <ac:spMkLst>
            <pc:docMk/>
            <pc:sldMk cId="0" sldId="278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0.843" v="253" actId="164"/>
          <ac:spMkLst>
            <pc:docMk/>
            <pc:sldMk cId="0" sldId="278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0.843" v="253" actId="164"/>
          <ac:spMkLst>
            <pc:docMk/>
            <pc:sldMk cId="0" sldId="278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2.174" v="255" actId="164"/>
          <ac:spMkLst>
            <pc:docMk/>
            <pc:sldMk cId="0" sldId="278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9:22.174" v="255" actId="164"/>
          <ac:spMkLst>
            <pc:docMk/>
            <pc:sldMk cId="0" sldId="278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6-15T07:58:29.483" v="244" actId="14100"/>
          <ac:spMkLst>
            <pc:docMk/>
            <pc:sldMk cId="0" sldId="278"/>
            <ac:spMk id="14" creationId="{00000000-0000-0000-0000-000000000000}"/>
          </ac:spMkLst>
        </pc:spChg>
        <pc:grpChg chg="add mod">
          <ac:chgData name="NHEK SROS" userId="8cedbad3-deec-40fb-8571-6ca7f038b51b" providerId="ADAL" clId="{2B96A9BE-95F9-4E01-93AE-2FD10B1E2391}" dt="2026-06-15T07:59:22.174" v="255" actId="164"/>
          <ac:grpSpMkLst>
            <pc:docMk/>
            <pc:sldMk cId="0" sldId="278"/>
            <ac:grpSpMk id="19" creationId="{72CE1ABD-EE28-2680-9550-6458D940E620}"/>
          </ac:grpSpMkLst>
        </pc:grpChg>
        <pc:grpChg chg="add mod">
          <ac:chgData name="NHEK SROS" userId="8cedbad3-deec-40fb-8571-6ca7f038b51b" providerId="ADAL" clId="{2B96A9BE-95F9-4E01-93AE-2FD10B1E2391}" dt="2026-06-15T07:59:21.167" v="254" actId="164"/>
          <ac:grpSpMkLst>
            <pc:docMk/>
            <pc:sldMk cId="0" sldId="278"/>
            <ac:grpSpMk id="20" creationId="{A63D8219-6666-E254-14DE-73B4E579D6E8}"/>
          </ac:grpSpMkLst>
        </pc:grpChg>
        <pc:grpChg chg="add mod">
          <ac:chgData name="NHEK SROS" userId="8cedbad3-deec-40fb-8571-6ca7f038b51b" providerId="ADAL" clId="{2B96A9BE-95F9-4E01-93AE-2FD10B1E2391}" dt="2026-06-15T07:59:20.843" v="253" actId="164"/>
          <ac:grpSpMkLst>
            <pc:docMk/>
            <pc:sldMk cId="0" sldId="278"/>
            <ac:grpSpMk id="21" creationId="{0DFCC296-9D46-4003-545C-49B3C594547E}"/>
          </ac:grpSpMkLst>
        </pc:grpChg>
        <pc:picChg chg="add del mod">
          <ac:chgData name="NHEK SROS" userId="8cedbad3-deec-40fb-8571-6ca7f038b51b" providerId="ADAL" clId="{2B96A9BE-95F9-4E01-93AE-2FD10B1E2391}" dt="2026-06-15T07:59:42.728" v="256" actId="478"/>
          <ac:picMkLst>
            <pc:docMk/>
            <pc:sldMk cId="0" sldId="278"/>
            <ac:picMk id="17" creationId="{A6747C18-0CBC-E880-9C40-990949FB32FE}"/>
          </ac:picMkLst>
        </pc:picChg>
        <pc:picChg chg="add mod">
          <ac:chgData name="NHEK SROS" userId="8cedbad3-deec-40fb-8571-6ca7f038b51b" providerId="ADAL" clId="{2B96A9BE-95F9-4E01-93AE-2FD10B1E2391}" dt="2026-06-15T08:00:06.790" v="257" actId="1076"/>
          <ac:picMkLst>
            <pc:docMk/>
            <pc:sldMk cId="0" sldId="278"/>
            <ac:picMk id="18" creationId="{127F6147-3D9E-464E-B6DD-4B892E824D52}"/>
          </ac:picMkLst>
        </pc:picChg>
      </pc:sldChg>
      <pc:sldChg chg="add">
        <pc:chgData name="NHEK SROS" userId="8cedbad3-deec-40fb-8571-6ca7f038b51b" providerId="ADAL" clId="{2B96A9BE-95F9-4E01-93AE-2FD10B1E2391}" dt="2026-06-15T07:10:20.636" v="165"/>
        <pc:sldMkLst>
          <pc:docMk/>
          <pc:sldMk cId="0" sldId="279"/>
        </pc:sldMkLst>
      </pc:sldChg>
      <pc:sldChg chg="addSp delSp modSp add mod">
        <pc:chgData name="NHEK SROS" userId="8cedbad3-deec-40fb-8571-6ca7f038b51b" providerId="ADAL" clId="{2B96A9BE-95F9-4E01-93AE-2FD10B1E2391}" dt="2026-06-15T08:04:43.901" v="273" actId="478"/>
        <pc:sldMkLst>
          <pc:docMk/>
          <pc:sldMk cId="0" sldId="280"/>
        </pc:sldMkLst>
        <pc:spChg chg="add del mod">
          <ac:chgData name="NHEK SROS" userId="8cedbad3-deec-40fb-8571-6ca7f038b51b" providerId="ADAL" clId="{2B96A9BE-95F9-4E01-93AE-2FD10B1E2391}" dt="2026-06-15T08:04:43.901" v="273" actId="478"/>
          <ac:spMkLst>
            <pc:docMk/>
            <pc:sldMk cId="0" sldId="280"/>
            <ac:spMk id="18" creationId="{D43F02F7-7436-5417-1E5A-FDAA69CED09E}"/>
          </ac:spMkLst>
        </pc:spChg>
      </pc:sldChg>
      <pc:sldChg chg="modSp add mod">
        <pc:chgData name="NHEK SROS" userId="8cedbad3-deec-40fb-8571-6ca7f038b51b" providerId="ADAL" clId="{2B96A9BE-95F9-4E01-93AE-2FD10B1E2391}" dt="2026-06-15T08:05:39.347" v="274" actId="14100"/>
        <pc:sldMkLst>
          <pc:docMk/>
          <pc:sldMk cId="0" sldId="281"/>
        </pc:sldMkLst>
        <pc:spChg chg="mod">
          <ac:chgData name="NHEK SROS" userId="8cedbad3-deec-40fb-8571-6ca7f038b51b" providerId="ADAL" clId="{2B96A9BE-95F9-4E01-93AE-2FD10B1E2391}" dt="2026-06-15T08:05:39.347" v="274" actId="14100"/>
          <ac:spMkLst>
            <pc:docMk/>
            <pc:sldMk cId="0" sldId="281"/>
            <ac:spMk id="7" creationId="{00000000-0000-0000-0000-000000000000}"/>
          </ac:spMkLst>
        </pc:spChg>
      </pc:sldChg>
      <pc:sldChg chg="addSp modSp add mod setBg">
        <pc:chgData name="NHEK SROS" userId="8cedbad3-deec-40fb-8571-6ca7f038b51b" providerId="ADAL" clId="{2B96A9BE-95F9-4E01-93AE-2FD10B1E2391}" dt="2026-06-15T08:06:16.940" v="277" actId="14100"/>
        <pc:sldMkLst>
          <pc:docMk/>
          <pc:sldMk cId="0" sldId="282"/>
        </pc:sldMkLst>
        <pc:spChg chg="mod">
          <ac:chgData name="NHEK SROS" userId="8cedbad3-deec-40fb-8571-6ca7f038b51b" providerId="ADAL" clId="{2B96A9BE-95F9-4E01-93AE-2FD10B1E2391}" dt="2026-06-15T07:12:44.286" v="172" actId="207"/>
          <ac:spMkLst>
            <pc:docMk/>
            <pc:sldMk cId="0" sldId="282"/>
            <ac:spMk id="2" creationId="{00000000-0000-0000-0000-000000000000}"/>
          </ac:spMkLst>
        </pc:spChg>
        <pc:spChg chg="add mod ord">
          <ac:chgData name="NHEK SROS" userId="8cedbad3-deec-40fb-8571-6ca7f038b51b" providerId="ADAL" clId="{2B96A9BE-95F9-4E01-93AE-2FD10B1E2391}" dt="2026-06-15T07:12:40.958" v="171" actId="1076"/>
          <ac:spMkLst>
            <pc:docMk/>
            <pc:sldMk cId="0" sldId="282"/>
            <ac:spMk id="12" creationId="{B825C20C-409D-6C77-6335-238852C22648}"/>
          </ac:spMkLst>
        </pc:spChg>
        <pc:graphicFrameChg chg="modGraphic">
          <ac:chgData name="NHEK SROS" userId="8cedbad3-deec-40fb-8571-6ca7f038b51b" providerId="ADAL" clId="{2B96A9BE-95F9-4E01-93AE-2FD10B1E2391}" dt="2026-06-15T07:13:02.819" v="176" actId="207"/>
          <ac:graphicFrameMkLst>
            <pc:docMk/>
            <pc:sldMk cId="0" sldId="282"/>
            <ac:graphicFrameMk id="11" creationId="{00000000-0000-0000-0000-000000000000}"/>
          </ac:graphicFrameMkLst>
        </pc:graphicFrameChg>
        <pc:picChg chg="mod">
          <ac:chgData name="NHEK SROS" userId="8cedbad3-deec-40fb-8571-6ca7f038b51b" providerId="ADAL" clId="{2B96A9BE-95F9-4E01-93AE-2FD10B1E2391}" dt="2026-06-15T08:06:08.115" v="275" actId="14100"/>
          <ac:picMkLst>
            <pc:docMk/>
            <pc:sldMk cId="0" sldId="282"/>
            <ac:picMk id="8" creationId="{F013DFF2-AD0E-D814-CDB5-2E600E639644}"/>
          </ac:picMkLst>
        </pc:picChg>
        <pc:picChg chg="mod">
          <ac:chgData name="NHEK SROS" userId="8cedbad3-deec-40fb-8571-6ca7f038b51b" providerId="ADAL" clId="{2B96A9BE-95F9-4E01-93AE-2FD10B1E2391}" dt="2026-06-15T08:06:14.948" v="276" actId="14100"/>
          <ac:picMkLst>
            <pc:docMk/>
            <pc:sldMk cId="0" sldId="282"/>
            <ac:picMk id="9" creationId="{6ADFFD95-53A4-AE77-3F95-1325049F33B1}"/>
          </ac:picMkLst>
        </pc:picChg>
        <pc:picChg chg="mod">
          <ac:chgData name="NHEK SROS" userId="8cedbad3-deec-40fb-8571-6ca7f038b51b" providerId="ADAL" clId="{2B96A9BE-95F9-4E01-93AE-2FD10B1E2391}" dt="2026-06-15T08:06:16.940" v="277" actId="14100"/>
          <ac:picMkLst>
            <pc:docMk/>
            <pc:sldMk cId="0" sldId="282"/>
            <ac:picMk id="13" creationId="{DCA901BE-C7C5-E871-E83B-E5AF461D1C56}"/>
          </ac:picMkLst>
        </pc:picChg>
      </pc:sldChg>
      <pc:sldChg chg="add del">
        <pc:chgData name="NHEK SROS" userId="8cedbad3-deec-40fb-8571-6ca7f038b51b" providerId="ADAL" clId="{2B96A9BE-95F9-4E01-93AE-2FD10B1E2391}" dt="2026-06-15T06:34:30.188" v="1"/>
        <pc:sldMkLst>
          <pc:docMk/>
          <pc:sldMk cId="2118353320" sldId="28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 AI (annual)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Bandwidth</c:v>
                </c:pt>
                <c:pt idx="2">
                  <c:v>Storage</c:v>
                </c:pt>
                <c:pt idx="3">
                  <c:v>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</c:v>
                </c:pt>
                <c:pt idx="1">
                  <c:v>12000</c:v>
                </c:pt>
                <c:pt idx="2">
                  <c:v>8000</c:v>
                </c:pt>
                <c:pt idx="3">
                  <c:v>65000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BE-4FD4-B5D2-1817CC98BA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Edge AI (annual)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Bandwidth</c:v>
                </c:pt>
                <c:pt idx="2">
                  <c:v>Storage</c:v>
                </c:pt>
                <c:pt idx="3">
                  <c:v>Total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15000</c:v>
                </c:pt>
                <c:pt idx="1">
                  <c:v>2000</c:v>
                </c:pt>
                <c:pt idx="2">
                  <c:v>3000</c:v>
                </c:pt>
                <c:pt idx="3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BE-4FD4-B5D2-1817CC98B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PyTorch (.pt)</c:v>
                </c:pt>
              </c:strCache>
            </c:strRef>
          </c:tx>
          <c:spPr>
            <a:solidFill>
              <a:srgbClr val="0D4A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Avg Latency (ms)</c:v>
                </c:pt>
                <c:pt idx="1">
                  <c:v>FPS</c:v>
                </c:pt>
                <c:pt idx="2">
                  <c:v>RAM (MB)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46.46</c:v>
                </c:pt>
                <c:pt idx="1">
                  <c:v>21.52</c:v>
                </c:pt>
                <c:pt idx="2">
                  <c:v>415.9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AF-4091-AE99-7A94D3E6E2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 Runtime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Avg Latency (ms)</c:v>
                </c:pt>
                <c:pt idx="1">
                  <c:v>FPS</c:v>
                </c:pt>
                <c:pt idx="2">
                  <c:v>RAM (MB)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36.909999999999997</c:v>
                </c:pt>
                <c:pt idx="1">
                  <c:v>27.09</c:v>
                </c:pt>
                <c:pt idx="2">
                  <c:v>509.3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AF-4091-AE99-7A94D3E6E2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900"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900">
                <a:solidFill>
                  <a:schemeClr val="bg1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54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yourself. Explain the session plan: 3-6 hours covering Edge AI fundamentals through practical YOLO deployment. Ask students about their background with Python and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Emphasize that labs are hands-on — students should have their computers ready. The schedule is flexible; adjust pacing based on student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each learning objective. Connect LO3–LO5 to the hands-on lab exercises. Encourage students to refer back to these objectives as they progress through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Edge AI clearly. Emphasize the shift from cloud-centric to on-device computation. Ask: 'What happens if your self-driving car loses WiFi?' This motivates why edge matters. Spend ~5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The key insight: Edge doesn't win everything, but for IoT and safety-critical scenarios, the latency and privacy advantages are decisive. Cloud still wins for very large models and burst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driver, give a real example: Latency→autonomous emergency brake; Privacy→hospital X-ray analysis; Bandwidth→multi-camera factory floor; Cost→startup budget constraints. Allow 8-10 minutes here.</a:t>
            </a:r>
          </a:p>
          <a:p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Drivers </a:t>
            </a:r>
            <a:r>
              <a:rPr lang="km-KH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កត្តាជំរុញសំខាន់ៗ</a:t>
            </a:r>
            <a:endParaRPr lang="en-GB" sz="12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GDPR, CCPA compliance </a:t>
            </a:r>
            <a:r>
              <a:rPr lang="km-KH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ការអនុលោមតាម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GDPR, CCPA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EB = 2621440 TB</a:t>
            </a:r>
          </a:p>
          <a:p>
            <a:r>
              <a:rPr lang="en-US" dirty="0"/>
              <a:t>Edge AI </a:t>
            </a:r>
            <a:r>
              <a:rPr lang="km-KH" dirty="0"/>
              <a:t>ដំណើរការទិន្នន័យនៅ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locally </a:t>
            </a:r>
            <a:r>
              <a:rPr lang="km-KH" dirty="0"/>
              <a:t>ដោយផ្ញើតែលទ្ធផលទៅកាន់ </a:t>
            </a:r>
            <a:r>
              <a:rPr lang="en-US" dirty="0"/>
              <a:t>cloud </a:t>
            </a:r>
            <a:r>
              <a:rPr lang="km-KH" dirty="0"/>
              <a:t>ប៉ុណ្ណោះ។ នេះកាត់បន្ថយតម្រូវការ </a:t>
            </a:r>
            <a:r>
              <a:rPr lang="en-US" dirty="0"/>
              <a:t>bandwidth </a:t>
            </a:r>
            <a:r>
              <a:rPr lang="km-KH" dirty="0"/>
              <a:t>យ៉ាងខ្លាំង និងអាចឱ្យប្រតិបត្តិការផ្តាច់ចេញ។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m-KH" dirty="0"/>
              <a:t>អត្ថប្រយោជន៍សំខាន់ៗនៃការចំណាយ៖</a:t>
            </a:r>
          </a:p>
          <a:p>
            <a:r>
              <a:rPr lang="km-KH" dirty="0"/>
              <a:t>គ្មានការគិតថ្លៃ </a:t>
            </a:r>
            <a:r>
              <a:rPr lang="en-US" dirty="0"/>
              <a:t>API </a:t>
            </a:r>
            <a:r>
              <a:rPr lang="km-KH" dirty="0"/>
              <a:t>ក្នុងមួយការសន្និដ្ឋាន</a:t>
            </a:r>
          </a:p>
          <a:p>
            <a:r>
              <a:rPr lang="km-KH" dirty="0"/>
              <a:t>កាត់បន្ថយការផ្តល់សេវាកម្មលើ </a:t>
            </a:r>
            <a:r>
              <a:rPr lang="en-US" dirty="0"/>
              <a:t>Cloud</a:t>
            </a:r>
          </a:p>
          <a:p>
            <a:r>
              <a:rPr lang="km-KH" dirty="0"/>
              <a:t>កាត់បន្ថយការចំណាយលើការផ្ទេរទិន្នន័យ</a:t>
            </a:r>
          </a:p>
          <a:p>
            <a:r>
              <a:rPr lang="km-KH" dirty="0"/>
              <a:t>ថ្លៃសេវា </a:t>
            </a:r>
            <a:r>
              <a:rPr lang="en-US" dirty="0"/>
              <a:t>HW </a:t>
            </a:r>
            <a:r>
              <a:rPr lang="km-KH" dirty="0"/>
              <a:t>ម្តងបើប្រៀបធៀបទៅនឹងថ្លៃសេវា </a:t>
            </a:r>
            <a:r>
              <a:rPr lang="en-US" dirty="0"/>
              <a:t>Cloud </a:t>
            </a:r>
            <a:r>
              <a:rPr lang="km-KH" dirty="0"/>
              <a:t>ដដែលៗ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confuse training and inference. Clarify: we're NOT training models today. The model was already trained by Ultralytics on COCO dataset. We load and run it. This is edge INFERENCE. Training requires 100x more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stack diagram grounds everything we do today. Our focus: Runtime (ONNX), Model (YOLOv8), and Application layers. The hardware is your laptop CPU/GPU. Integration (MQTT) is covered briefly in future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= You Only Look Once. Key insight: two-stage detectors (Faster R-CNN) first find regions then classify. YOLO does both in one pass. This is why it's fast enough for real-time edge use. YOLOv8n has only 3.2M parameters — tiny enough for embedded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TIME: Have students follow steps 01-04. Common issues: PATH not set (Python), PowerShell execution policy, GPU vs CPU PyTorch. Walk around and help. Allow 45 minutes. Students should get all 4 verification scripts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tests must pass before moving on. If CUDA shows False — that's OK, CPU mode works for learning. If webcam fails, check camera index 0 vs 1. If YOLO model download fails, check internet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6.1: Students run model_info script — confirm 80 classes and 3.1M parameters. LAB 6.2: Webcam detection — this is the exciting moment! Students see real-time detection on their own webcam. Allow 20-25 minutes. Common issue: cv2.CAP_DSHOW vs no flag — try both if camera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 for students: ONNX Runtime applies graph-level optimizations the original PyTorch framework doesn't. Export once, run anywhere. For Raspberry Pi: ONNX Runtime has an ARM build (~50MB) while PyTorch ARM is ~2GB. The warm-up discards JIT compilation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impactful optimization is often architecture selection — choose YOLO Nano over YOLO Large. Quantization FP16 is almost always safe. INT8 needs calibration data. Pruning is complex; skip for this session. Knowledge distillation is for when you need a smaller custom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7.1: Interactive ROI is the most impressive demo. Students draw zones with the mouse — very visual. LAB 7.3: People counter is simpler but more production-realistic. Discuss: what happens when an alert fires in a real factory? MQTT → PLC relay → light/alarm/conveyor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BoT-SORT = combination of Kalman filter (motion) + Re-ID features (appearance) + IoU association. Key: model.track() with persist=True maintains tracker state across frames. For line-crossing: use Y-coordinate thresholds with an offset zone to avoid double-counting at the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9.1: Students build a dual-panel dashboard — left is camera feed, right is metrics panel. The draw_bar() helper is reusable. Encourage students to add a third panel. Extension: Flask API endpoint + Chart.js frontend for remote monitoring — mention for advanced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begin with Project 1 or 2 (Intermediate). Project 3 extends Lab 8 significantly. Assessment rubric: Functionality 40%, Code Quality 20%, Performance Analysis 20%, Report 20%. Allow students to present their project results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Exciting discussion: ask students where they see Edge AI going in 5 years. NPUs in laptops are happening NOW — Intel AI PC certification. TinyML is real — show Edge Impulse demo if time. Federated learning is why Siri gets smarter without your data leaving your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visible as a desktop reference during lab time. Students can refer to it for exact commands. Also mention the books: 'AI at the Edge' by Daniel Situnayake (O'Reilly, 2023) and 'TinyML' by Pete Warden (O'Reilly, 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Summarize the journey: from understanding what Edge AI is, through setting up the environment, running YOLO, optimizing with ONNX, building advanced apps, to designing real projects. Next steps: complete the capstone project, explore TinyML on a Raspberry Pi, and follow CVPR / NeurIPS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hyperlink" Target="https://www.hanwhavision.com/ar/news-center/1576877/" TargetMode="Externa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41.png"/><Relationship Id="rId10" Type="http://schemas.openxmlformats.org/officeDocument/2006/relationships/image" Target="../media/image39.png"/><Relationship Id="rId4" Type="http://schemas.openxmlformats.org/officeDocument/2006/relationships/image" Target="../media/image6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269480" y="32004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80960" y="32004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092440" y="32004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4592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029968"/>
            <a:ext cx="6858000" cy="36576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&amp;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kern="0" spc="200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INFERENCE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Practical Guide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977640"/>
            <a:ext cx="192024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30352" y="40233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Hours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" y="4361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606040" y="3977640"/>
            <a:ext cx="192024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2679192" y="40233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VS Code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79192" y="4361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3977640"/>
            <a:ext cx="192024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828032" y="40233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ONNX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28032" y="4361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903720" y="3977640"/>
            <a:ext cx="192024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976872" y="40233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76872" y="4361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Management | National Polytechnic Institute of Cambodia  ·  2026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hours · Practical + Theory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749808"/>
          </a:xfrm>
          <a:prstGeom prst="roundRect">
            <a:avLst/>
          </a:prstGeom>
          <a:solidFill>
            <a:srgbClr val="0F4C81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75488" y="11521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Edge AI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89888" y="1499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11880" y="13167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611880" y="13167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4160520" cy="749808"/>
          </a:xfrm>
          <a:prstGeom prst="roundRect">
            <a:avLst/>
          </a:prstGeom>
          <a:solidFill>
            <a:srgbClr val="164E63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75488" y="2066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89888" y="2084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Architecture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89888" y="2414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11880" y="22311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3611880" y="22311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40 min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4160520" cy="749808"/>
          </a:xfrm>
          <a:prstGeom prst="roundRect">
            <a:avLst/>
          </a:prstGeom>
          <a:solidFill>
            <a:srgbClr val="0F4C81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475488" y="29809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0632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89888" y="2999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389888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11880" y="31455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3611880" y="31455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45 min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65760" y="3840480"/>
            <a:ext cx="4160520" cy="749808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475488" y="38953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9776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89888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Model Deployment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389888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611880" y="40599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3611880" y="40599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60 min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709160" y="1097280"/>
            <a:ext cx="4160520" cy="749808"/>
          </a:xfrm>
          <a:prstGeom prst="roundRect">
            <a:avLst/>
          </a:prstGeom>
          <a:solidFill>
            <a:srgbClr val="0F4C81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27"/>
          <p:cNvSpPr/>
          <p:nvPr/>
        </p:nvSpPr>
        <p:spPr>
          <a:xfrm>
            <a:off x="4818888" y="11521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088" y="123444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733288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Applications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733288" y="1499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955280" y="13167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1"/>
          <p:cNvSpPr/>
          <p:nvPr/>
        </p:nvSpPr>
        <p:spPr>
          <a:xfrm>
            <a:off x="7955280" y="13167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60 min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4709160" y="2011680"/>
            <a:ext cx="4160520" cy="749808"/>
          </a:xfrm>
          <a:prstGeom prst="roundRect">
            <a:avLst/>
          </a:prstGeom>
          <a:solidFill>
            <a:srgbClr val="164E63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3"/>
          <p:cNvSpPr/>
          <p:nvPr/>
        </p:nvSpPr>
        <p:spPr>
          <a:xfrm>
            <a:off x="4818888" y="2066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088" y="2148840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733288" y="2084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Analytics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5733288" y="2414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7955280" y="22311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37"/>
          <p:cNvSpPr/>
          <p:nvPr/>
        </p:nvSpPr>
        <p:spPr>
          <a:xfrm>
            <a:off x="7955280" y="22311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50 min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4709160" y="2926080"/>
            <a:ext cx="4160520" cy="749808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39"/>
          <p:cNvSpPr/>
          <p:nvPr/>
        </p:nvSpPr>
        <p:spPr>
          <a:xfrm>
            <a:off x="4818888" y="29809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6088" y="3063240"/>
            <a:ext cx="365760" cy="36576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5733288" y="2999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Assessment</a:t>
            </a:r>
            <a:endParaRPr lang="en-US" sz="1250" dirty="0"/>
          </a:p>
        </p:txBody>
      </p:sp>
      <p:sp>
        <p:nvSpPr>
          <p:cNvPr id="50" name="Text 41"/>
          <p:cNvSpPr/>
          <p:nvPr/>
        </p:nvSpPr>
        <p:spPr>
          <a:xfrm>
            <a:off x="5733288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7955280" y="31455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3"/>
          <p:cNvSpPr/>
          <p:nvPr/>
        </p:nvSpPr>
        <p:spPr>
          <a:xfrm>
            <a:off x="7955280" y="31455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45 min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4709160" y="3840480"/>
            <a:ext cx="4160520" cy="749808"/>
          </a:xfrm>
          <a:prstGeom prst="roundRect">
            <a:avLst/>
          </a:prstGeom>
          <a:solidFill>
            <a:srgbClr val="0F4C81"/>
          </a:solidFill>
          <a:ln w="6350">
            <a:solidFill>
              <a:srgbClr val="0EA5E9">
                <a:alpha val="5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Text 45"/>
          <p:cNvSpPr/>
          <p:nvPr/>
        </p:nvSpPr>
        <p:spPr>
          <a:xfrm>
            <a:off x="4818888" y="38953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6088" y="3977640"/>
            <a:ext cx="365760" cy="36576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733288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Edge AI</a:t>
            </a:r>
            <a:endParaRPr lang="en-US" sz="1250" dirty="0"/>
          </a:p>
        </p:txBody>
      </p:sp>
      <p:sp>
        <p:nvSpPr>
          <p:cNvPr id="57" name="Text 47"/>
          <p:cNvSpPr/>
          <p:nvPr/>
        </p:nvSpPr>
        <p:spPr>
          <a:xfrm>
            <a:off x="5733288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7955280" y="4059936"/>
            <a:ext cx="804672" cy="2743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49"/>
          <p:cNvSpPr/>
          <p:nvPr/>
        </p:nvSpPr>
        <p:spPr>
          <a:xfrm>
            <a:off x="7955280" y="40599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063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063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Edge AI principles and compare with cloud-based AI architectures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233075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233075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Python development environment with VS Code and virtual environments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329087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329087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31089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pre-trained YOLO models for real-time object detection via webcam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7200" y="425099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425099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40690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models to ONNX format and benchmark inference performance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54880" y="137063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54880" y="137063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11887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applications: ROI detection, people counters, and tracking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05740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54880" y="233075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754880" y="233075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21488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model optimization: quantization, pruning, and architecture selection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54880" y="329087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54880" y="329087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31089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professional monitoring dashboards for Edge AI systems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114800" cy="80467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754880" y="4250997"/>
            <a:ext cx="502920" cy="2926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54880" y="4250997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240" y="40690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evaluate Edge AI projects for real-world deployment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Edge AI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AI?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572768"/>
            <a:ext cx="4847685" cy="914400"/>
          </a:xfrm>
          <a:prstGeom prst="roundRect">
            <a:avLst/>
          </a:prstGeom>
          <a:solidFill>
            <a:srgbClr val="0C4A6E">
              <a:alpha val="9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6832"/>
            <a:ext cx="359439" cy="3594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1461" y="1627632"/>
            <a:ext cx="4316931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deploys and executes AI algorithms directly on local hardware — microcontrollers, single-board computers, smartphones, and embedded systems — rather than relying on centralized cloud servers. This brings computation physically closer to the source of data.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2633472"/>
            <a:ext cx="2651760" cy="1536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724912"/>
            <a:ext cx="475488" cy="4754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3246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35295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Sub-50ms latency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decisions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46120" y="2633472"/>
            <a:ext cx="2651760" cy="1536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724912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37560" y="3246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337560" y="35295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device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premises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126480" y="2633472"/>
            <a:ext cx="2651760" cy="1536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724912"/>
            <a:ext cx="475488" cy="4754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7920" y="32461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217920" y="35295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65760" y="47882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Applications: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286000" y="4769940"/>
            <a:ext cx="10515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2286000" y="47699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3401568" y="4769940"/>
            <a:ext cx="10515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9"/>
          <p:cNvSpPr/>
          <p:nvPr/>
        </p:nvSpPr>
        <p:spPr>
          <a:xfrm>
            <a:off x="3401568" y="47699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Robotics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4517136" y="4769940"/>
            <a:ext cx="10515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1"/>
          <p:cNvSpPr/>
          <p:nvPr/>
        </p:nvSpPr>
        <p:spPr>
          <a:xfrm>
            <a:off x="4517136" y="47699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</a:t>
            </a:r>
            <a:endParaRPr lang="en-US" sz="750" dirty="0"/>
          </a:p>
        </p:txBody>
      </p:sp>
      <p:sp>
        <p:nvSpPr>
          <p:cNvPr id="29" name="Shape 22"/>
          <p:cNvSpPr/>
          <p:nvPr/>
        </p:nvSpPr>
        <p:spPr>
          <a:xfrm>
            <a:off x="5632704" y="4769940"/>
            <a:ext cx="10515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3"/>
          <p:cNvSpPr/>
          <p:nvPr/>
        </p:nvSpPr>
        <p:spPr>
          <a:xfrm>
            <a:off x="5632704" y="47699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Monitoring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6748272" y="4769940"/>
            <a:ext cx="10515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5"/>
          <p:cNvSpPr/>
          <p:nvPr/>
        </p:nvSpPr>
        <p:spPr>
          <a:xfrm>
            <a:off x="6748272" y="47699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Security</a:t>
            </a:r>
            <a:endParaRPr lang="en-US" sz="750" dirty="0"/>
          </a:p>
        </p:txBody>
      </p:sp>
      <p:sp>
        <p:nvSpPr>
          <p:cNvPr id="33" name="Shape 26"/>
          <p:cNvSpPr/>
          <p:nvPr/>
        </p:nvSpPr>
        <p:spPr>
          <a:xfrm>
            <a:off x="7863840" y="4769940"/>
            <a:ext cx="10515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7863840" y="47699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750" dirty="0"/>
          </a:p>
        </p:txBody>
      </p:sp>
      <p:pic>
        <p:nvPicPr>
          <p:cNvPr id="36" name="Picture 35" descr="Moving from Inference in the Cloud to Inference at the Edge">
            <a:extLst>
              <a:ext uri="{FF2B5EF4-FFF2-40B4-BE49-F238E27FC236}">
                <a16:creationId xmlns:a16="http://schemas.microsoft.com/office/drawing/2014/main" id="{E7A50033-B7E6-0CDE-135A-D96C0085A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1643" y="182677"/>
            <a:ext cx="3832794" cy="1792630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8" name="Picture 37" descr="Autonomous AI | How Autonomous Systems Work - Caltech Science Exchange">
            <a:extLst>
              <a:ext uri="{FF2B5EF4-FFF2-40B4-BE49-F238E27FC236}">
                <a16:creationId xmlns:a16="http://schemas.microsoft.com/office/drawing/2014/main" id="{7759C663-46A1-A9CB-0B8E-A9C21817D3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4273998"/>
            <a:ext cx="848859" cy="477654"/>
          </a:xfrm>
          <a:prstGeom prst="rect">
            <a:avLst/>
          </a:prstGeom>
        </p:spPr>
      </p:pic>
      <p:pic>
        <p:nvPicPr>
          <p:cNvPr id="39" name="Picture 38" descr="Robotic arm - Free industry icons">
            <a:extLst>
              <a:ext uri="{FF2B5EF4-FFF2-40B4-BE49-F238E27FC236}">
                <a16:creationId xmlns:a16="http://schemas.microsoft.com/office/drawing/2014/main" id="{C5FC165F-5F31-315E-E736-CE5C275FC1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4237883"/>
            <a:ext cx="525540" cy="525540"/>
          </a:xfrm>
          <a:prstGeom prst="rect">
            <a:avLst/>
          </a:prstGeom>
        </p:spPr>
      </p:pic>
      <p:pic>
        <p:nvPicPr>
          <p:cNvPr id="40" name="Picture 39" descr="Product quality inspection icon – Royalty-Free Vector | VectorStock">
            <a:extLst>
              <a:ext uri="{FF2B5EF4-FFF2-40B4-BE49-F238E27FC236}">
                <a16:creationId xmlns:a16="http://schemas.microsoft.com/office/drawing/2014/main" id="{5208569B-44B0-B644-F09D-FD6C23076D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7136" y="4273998"/>
            <a:ext cx="608476" cy="477654"/>
          </a:xfrm>
          <a:prstGeom prst="rect">
            <a:avLst/>
          </a:prstGeom>
        </p:spPr>
      </p:pic>
      <p:pic>
        <p:nvPicPr>
          <p:cNvPr id="41" name="Picture 40" descr="Health monitoring - Free medical icons">
            <a:extLst>
              <a:ext uri="{FF2B5EF4-FFF2-40B4-BE49-F238E27FC236}">
                <a16:creationId xmlns:a16="http://schemas.microsoft.com/office/drawing/2014/main" id="{B66A53DE-931D-F14E-A598-D32E4FB58C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8880" y="4217189"/>
            <a:ext cx="609604" cy="609604"/>
          </a:xfrm>
          <a:prstGeom prst="rect">
            <a:avLst/>
          </a:prstGeom>
        </p:spPr>
      </p:pic>
      <p:pic>
        <p:nvPicPr>
          <p:cNvPr id="42" name="Picture 41" descr="Download Wireless Security Camera Icon | Wallpapers.com">
            <a:extLst>
              <a:ext uri="{FF2B5EF4-FFF2-40B4-BE49-F238E27FC236}">
                <a16:creationId xmlns:a16="http://schemas.microsoft.com/office/drawing/2014/main" id="{C4B8647E-E4FF-576B-2868-77B16DE0521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6763736" y="4273998"/>
            <a:ext cx="490500" cy="443000"/>
          </a:xfrm>
          <a:prstGeom prst="rect">
            <a:avLst/>
          </a:prstGeom>
        </p:spPr>
      </p:pic>
      <p:pic>
        <p:nvPicPr>
          <p:cNvPr id="44" name="Picture 43" descr="Agriculture - Free technology icons">
            <a:extLst>
              <a:ext uri="{FF2B5EF4-FFF2-40B4-BE49-F238E27FC236}">
                <a16:creationId xmlns:a16="http://schemas.microsoft.com/office/drawing/2014/main" id="{28D9567D-9E4D-6EF3-4665-E2EE02DCB9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7784" y="4283872"/>
            <a:ext cx="490500" cy="49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vs. Cloud AI — Architectural Trade-Offs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4572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589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758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937760" y="685800"/>
            <a:ext cx="3931920" cy="45720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7589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13248" y="758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1261872"/>
            <a:ext cx="8595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320040" y="13533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600200" y="13350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50–500+ ms (network round-trip)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892040" y="1316736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4983480" y="13350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1–50 ms (on-device)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6" y="1426464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74320" y="1856232"/>
            <a:ext cx="8595360" cy="5486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320040" y="1947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600200" y="19293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premises to remote servers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92040" y="1911096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4983480" y="19293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machine always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6" y="2020824"/>
            <a:ext cx="201168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74320" y="2450592"/>
            <a:ext cx="8595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320040" y="2542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600200" y="25237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raw data must be uploaded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892040" y="2505456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4983480" y="25237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only metadata/alerts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6" y="2615184"/>
            <a:ext cx="201168" cy="20116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74320" y="3044952"/>
            <a:ext cx="8595360" cy="5486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2"/>
          <p:cNvSpPr/>
          <p:nvPr/>
        </p:nvSpPr>
        <p:spPr>
          <a:xfrm>
            <a:off x="320040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600200" y="31181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API/GPU rental fees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892040" y="3099816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5"/>
          <p:cNvSpPr/>
          <p:nvPr/>
        </p:nvSpPr>
        <p:spPr>
          <a:xfrm>
            <a:off x="4983480" y="31181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hardware investment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6" y="3209544"/>
            <a:ext cx="201168" cy="20116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274320" y="3639312"/>
            <a:ext cx="8595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7"/>
          <p:cNvSpPr/>
          <p:nvPr/>
        </p:nvSpPr>
        <p:spPr>
          <a:xfrm>
            <a:off x="320040" y="37307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Power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600200" y="371246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(cloud GPU clusters)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892040" y="3694176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0"/>
          <p:cNvSpPr/>
          <p:nvPr/>
        </p:nvSpPr>
        <p:spPr>
          <a:xfrm>
            <a:off x="4983480" y="371246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GPU/NPU-dependent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06" y="3803904"/>
            <a:ext cx="201168" cy="201168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274320" y="4233672"/>
            <a:ext cx="8595360" cy="5486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2"/>
          <p:cNvSpPr/>
          <p:nvPr/>
        </p:nvSpPr>
        <p:spPr>
          <a:xfrm>
            <a:off x="320040" y="43251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1600200" y="43068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Elastic, on-demand scaling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4892040" y="4288536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5"/>
          <p:cNvSpPr/>
          <p:nvPr/>
        </p:nvSpPr>
        <p:spPr>
          <a:xfrm>
            <a:off x="4983480" y="43068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deployment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06" y="4398264"/>
            <a:ext cx="201168" cy="201168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274320" y="4828032"/>
            <a:ext cx="859536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3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Edge wins for: Real-time control  ·  Privacy-sensitive data  ·  Remote/offline sites  ·  Continuous high-throughput inference</a:t>
            </a:r>
            <a:endParaRPr lang="en-US" sz="900" dirty="0"/>
          </a:p>
        </p:txBody>
      </p:sp>
      <p:pic>
        <p:nvPicPr>
          <p:cNvPr id="49" name="Picture 48" descr="Moving from Inference in the Cloud to Inference at the Edge">
            <a:extLst>
              <a:ext uri="{FF2B5EF4-FFF2-40B4-BE49-F238E27FC236}">
                <a16:creationId xmlns:a16="http://schemas.microsoft.com/office/drawing/2014/main" id="{0970A3CB-8D1B-CDB5-2174-5EF10E71AB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394"/>
          <a:stretch>
            <a:fillRect/>
          </a:stretch>
        </p:blipFill>
        <p:spPr>
          <a:xfrm>
            <a:off x="7585545" y="576072"/>
            <a:ext cx="1558455" cy="1499616"/>
          </a:xfrm>
          <a:prstGeom prst="rect">
            <a:avLst/>
          </a:prstGeom>
        </p:spPr>
      </p:pic>
      <p:pic>
        <p:nvPicPr>
          <p:cNvPr id="51" name="Picture 50" descr="Moving from Inference in the Cloud to Inference at the Edge">
            <a:extLst>
              <a:ext uri="{FF2B5EF4-FFF2-40B4-BE49-F238E27FC236}">
                <a16:creationId xmlns:a16="http://schemas.microsoft.com/office/drawing/2014/main" id="{7A7102F4-0D7E-2476-69C6-5DF724ABA5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6134"/>
          <a:stretch>
            <a:fillRect/>
          </a:stretch>
        </p:blipFill>
        <p:spPr>
          <a:xfrm>
            <a:off x="3421985" y="565518"/>
            <a:ext cx="1403918" cy="1496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AI Matters — 4 Key Drivers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205740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7498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7680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Reduction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5–50 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1581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0" y="11338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AI: 50–500+ ms round-trip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64592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AV, robotics, surgery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645920" y="19751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extra latency = safety risk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658368"/>
            <a:ext cx="4206240" cy="2057400"/>
          </a:xfrm>
          <a:prstGeom prst="roundRect">
            <a:avLst/>
          </a:prstGeom>
          <a:solidFill>
            <a:srgbClr val="14532D"/>
          </a:solidFill>
          <a:ln w="10160">
            <a:solidFill>
              <a:srgbClr val="4ADE80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800600" y="749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74980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7680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Data Sovereignty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73168" y="11338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bytes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73168" y="1581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cloud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035040" y="11338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GDPR, CCPA compliance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3504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 stay on device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035040" y="19751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video transmitted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2834640"/>
            <a:ext cx="4206240" cy="205740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38BDF8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411480" y="2926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92608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8680" y="29443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 &amp; Offline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84048" y="33101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Gbps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384048" y="3758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raw stream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645920" y="3310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sends only metadata/alerts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645920" y="3730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mines, ships, rural sites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1645920" y="41513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deployments supported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663440" y="2834640"/>
            <a:ext cx="4206240" cy="205740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14B8A6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4800600" y="2926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92608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57800" y="29443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773168" y="33101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4773168" y="3758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inference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6035040" y="3310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API fees at scale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035040" y="3730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hardware investment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035040" y="41513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= dev + deployment platform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Edge Inference Matters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Edge inference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(on-device)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192024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50-200ms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Cloud inference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(network round-trip)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436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Critical for real-time: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0" y="2331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Autonomous driving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AR/VR pipelines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Industrial robot control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Medical monitoring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5286" y="4777740"/>
            <a:ext cx="7315200" cy="26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Eliminating network round-trips enables applications where milliseconds determine safety outcomes.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 / 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 descr="Round Trip Time (RTT) – Definition, Formula &amp; How to Reduce">
            <a:extLst>
              <a:ext uri="{FF2B5EF4-FFF2-40B4-BE49-F238E27FC236}">
                <a16:creationId xmlns:a16="http://schemas.microsoft.com/office/drawing/2014/main" id="{127F6147-3D9E-464E-B6DD-4B892E824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388" y="3657600"/>
            <a:ext cx="1774024" cy="8588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Edge Inference Matters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Sovereignty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029968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never leaves the device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9728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Biometrics, health data, conversations stay local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761488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09728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GDPR, HIPAA satisfied by 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40080" y="34290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49300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Reduced attack surface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0972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cloud transmission = fewer interception vectors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224528"/>
            <a:ext cx="192024" cy="1920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 trust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109728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Consumers demand on-device processing for personal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 / 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>
            <a:hlinkClick r:id="rId5"/>
            <a:extLst>
              <a:ext uri="{FF2B5EF4-FFF2-40B4-BE49-F238E27FC236}">
                <a16:creationId xmlns:a16="http://schemas.microsoft.com/office/drawing/2014/main" id="{AEB359BD-9423-2FD4-DD37-D67C1521F6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695" y="1991042"/>
            <a:ext cx="4472305" cy="223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Edge Inference Matters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Bandwidth &amp; Connectivity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75B+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IoT devices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by 2030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74720" y="19202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7472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2.5 EB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Daily global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generated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0936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0936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connectivity worldwide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Edge AI processes data locally, sending only results to the cloud. This dramatically reduces bandwidth requirements and enables disconnected operation.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 / 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Edge Inference Matters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760720" y="2011680"/>
            <a:ext cx="312339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Key cost benefits: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per-inference API charges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Reduced cloud provisioning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Lower data transfer costs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One-time HW vs. recurring cloud fees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 / 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E32DFD-4BFB-560C-080D-F9E7B21436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4" b="7877"/>
          <a:stretch>
            <a:fillRect/>
          </a:stretch>
        </p:blipFill>
        <p:spPr bwMode="auto">
          <a:xfrm>
            <a:off x="5751755" y="321310"/>
            <a:ext cx="3021330" cy="17348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B825C20C-409D-6C77-6335-238852C22648}"/>
              </a:ext>
            </a:extLst>
          </p:cNvPr>
          <p:cNvSpPr/>
          <p:nvPr/>
        </p:nvSpPr>
        <p:spPr>
          <a:xfrm>
            <a:off x="0" y="355358"/>
            <a:ext cx="9144000" cy="56692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Frameworks &amp; Deployment Tools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50368"/>
              </p:ext>
            </p:extLst>
          </p:nvPr>
        </p:nvGraphicFramePr>
        <p:xfrm>
          <a:off x="2569699" y="1097280"/>
          <a:ext cx="6299981" cy="3154680"/>
        </p:xfrm>
        <a:graphic>
          <a:graphicData uri="http://schemas.openxmlformats.org/drawingml/2006/table">
            <a:tbl>
              <a:tblPr/>
              <a:tblGrid>
                <a:gridCol w="183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3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TensorFlow Lite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Mobile, embedded, microcontrollers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 Runtime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Cross-platform, multi-framework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TensorRT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GPU-optimized inference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iOS/macOS native inference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OpenVINO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CPU/GPU/VPU optimization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MediaPipe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ML pipelines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Choose based on target hardware, model format, and deployment constraints.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 / 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nnouncing TensorFlow Lite - Google ...">
            <a:extLst>
              <a:ext uri="{FF2B5EF4-FFF2-40B4-BE49-F238E27FC236}">
                <a16:creationId xmlns:a16="http://schemas.microsoft.com/office/drawing/2014/main" id="{086C3066-1D04-364F-EA4F-1E51A77F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29" y="1559901"/>
            <a:ext cx="2049340" cy="315283"/>
          </a:xfrm>
          <a:prstGeom prst="rect">
            <a:avLst/>
          </a:prstGeom>
        </p:spPr>
      </p:pic>
      <p:pic>
        <p:nvPicPr>
          <p:cNvPr id="6" name="Picture 5" descr="GitHub - microsoft/onnxruntime: ONNX Runtime: cross-platform, high  performance ML inferencing and training accelerator · GitHub">
            <a:extLst>
              <a:ext uri="{FF2B5EF4-FFF2-40B4-BE49-F238E27FC236}">
                <a16:creationId xmlns:a16="http://schemas.microsoft.com/office/drawing/2014/main" id="{60DEAEE0-512D-7C71-BE68-78EA99DDE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830" y="1852953"/>
            <a:ext cx="1005839" cy="502920"/>
          </a:xfrm>
          <a:prstGeom prst="rect">
            <a:avLst/>
          </a:prstGeom>
        </p:spPr>
      </p:pic>
      <p:pic>
        <p:nvPicPr>
          <p:cNvPr id="7" name="Picture 6" descr="How to Speed Up Deep Learning Inference Using TensorRT | NVIDIA Technical  Blog">
            <a:extLst>
              <a:ext uri="{FF2B5EF4-FFF2-40B4-BE49-F238E27FC236}">
                <a16:creationId xmlns:a16="http://schemas.microsoft.com/office/drawing/2014/main" id="{EA958376-C2A0-ACF8-9E52-147F1C19B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496" y="2333642"/>
            <a:ext cx="806173" cy="502920"/>
          </a:xfrm>
          <a:prstGeom prst="rect">
            <a:avLst/>
          </a:prstGeom>
        </p:spPr>
      </p:pic>
      <p:pic>
        <p:nvPicPr>
          <p:cNvPr id="8" name="Picture 7" descr="Graiphic">
            <a:extLst>
              <a:ext uri="{FF2B5EF4-FFF2-40B4-BE49-F238E27FC236}">
                <a16:creationId xmlns:a16="http://schemas.microsoft.com/office/drawing/2014/main" id="{F013DFF2-AD0E-D814-CDB5-2E600E639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29" y="2862510"/>
            <a:ext cx="1353640" cy="362293"/>
          </a:xfrm>
          <a:prstGeom prst="rect">
            <a:avLst/>
          </a:prstGeom>
        </p:spPr>
      </p:pic>
      <p:pic>
        <p:nvPicPr>
          <p:cNvPr id="9" name="Picture 8" descr="Introduction to OpenVINO. #Intel hardware #Intel Deep Learning… | by  Che-Jui Huang | Medium">
            <a:extLst>
              <a:ext uri="{FF2B5EF4-FFF2-40B4-BE49-F238E27FC236}">
                <a16:creationId xmlns:a16="http://schemas.microsoft.com/office/drawing/2014/main" id="{6ADFFD95-53A4-AE77-3F95-1325049F33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6038" y="3358238"/>
            <a:ext cx="1045631" cy="439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A901BE-C7C5-E871-E83B-E5AF461D1C5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308" b="5777"/>
          <a:stretch>
            <a:fillRect/>
          </a:stretch>
        </p:blipFill>
        <p:spPr>
          <a:xfrm>
            <a:off x="1894887" y="3838928"/>
            <a:ext cx="536782" cy="439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Lifecycle: Training vs. Inference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focuses exclusively on the Inference phase — deploying pre-trained models to edge devices for real-time prediction.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5029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612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627632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84048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36192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model parameters from labeled data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103120"/>
            <a:ext cx="4206240" cy="448056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84048" y="21671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536192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clusters, TPU pods — extremely high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2578608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84048" y="264261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36192" y="26426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to millions of labeled samples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054096"/>
            <a:ext cx="4206240" cy="448056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84048" y="311810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36192" y="3118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centers, HPC clusters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3529584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84048" y="35935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536192" y="3593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weeks per training run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4005072"/>
            <a:ext cx="4206240" cy="448056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84048" y="4069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36192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accuracy and generalization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4480560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84048" y="45445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536192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(retrain on new data batches)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1078992"/>
            <a:ext cx="4206240" cy="50292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61288"/>
            <a:ext cx="320040" cy="320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663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4663440" y="1627632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9"/>
          <p:cNvSpPr/>
          <p:nvPr/>
        </p:nvSpPr>
        <p:spPr>
          <a:xfrm>
            <a:off x="4773168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925312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trained model to make predictions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663440" y="2103120"/>
            <a:ext cx="4206240" cy="448056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2"/>
          <p:cNvSpPr/>
          <p:nvPr/>
        </p:nvSpPr>
        <p:spPr>
          <a:xfrm>
            <a:off x="4773168" y="21671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925312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to low — runs on edge devices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663440" y="2578608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5"/>
          <p:cNvSpPr/>
          <p:nvPr/>
        </p:nvSpPr>
        <p:spPr>
          <a:xfrm>
            <a:off x="4773168" y="264261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925312" y="26426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 or small batch at a time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663440" y="3054096"/>
            <a:ext cx="4206240" cy="448056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8"/>
          <p:cNvSpPr/>
          <p:nvPr/>
        </p:nvSpPr>
        <p:spPr>
          <a:xfrm>
            <a:off x="4773168" y="311810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5925312" y="3118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devices, local machines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663440" y="3529584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1"/>
          <p:cNvSpPr/>
          <p:nvPr/>
        </p:nvSpPr>
        <p:spPr>
          <a:xfrm>
            <a:off x="4773168" y="35935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925312" y="3593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per prediction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663440" y="4005072"/>
            <a:ext cx="4206240" cy="448056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4"/>
          <p:cNvSpPr/>
          <p:nvPr/>
        </p:nvSpPr>
        <p:spPr>
          <a:xfrm>
            <a:off x="4773168" y="4069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925312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latency, memory, and power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4663440" y="4480560"/>
            <a:ext cx="4206240" cy="4480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7"/>
          <p:cNvSpPr/>
          <p:nvPr/>
        </p:nvSpPr>
        <p:spPr>
          <a:xfrm>
            <a:off x="4773168" y="45445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5925312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(every sensor reading/frame)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274320" y="4809744"/>
            <a:ext cx="8595360" cy="27432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0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Session Focus: Inference only — models are pre-trained; we deploy, optimize, and benchmark them on local hardware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AI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749808"/>
          </a:xfrm>
          <a:prstGeom prst="roundRect">
            <a:avLst/>
          </a:prstGeom>
          <a:solidFill>
            <a:srgbClr val="0F2027"/>
          </a:solidFill>
          <a:ln w="10160">
            <a:solidFill>
              <a:srgbClr val="A78BFA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731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Integration Layer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024128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MQTT, gRPC, REST, GPIO, USB — connects pipeline to sensors, actuators, dashboards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89120" y="1408176"/>
            <a:ext cx="1097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74320" y="1517904"/>
            <a:ext cx="8595360" cy="749808"/>
          </a:xfrm>
          <a:prstGeom prst="roundRect">
            <a:avLst/>
          </a:prstGeom>
          <a:solidFill>
            <a:srgbClr val="0F2A2F"/>
          </a:solidFill>
          <a:ln w="10160">
            <a:solidFill>
              <a:srgbClr val="14B8A6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824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591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Application Layer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188366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capture → preprocess → infer → post-process → visualize → alert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772400" y="1609344"/>
            <a:ext cx="100584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772400" y="16093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Today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389120" y="2267712"/>
            <a:ext cx="1097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274320" y="2377440"/>
            <a:ext cx="8595360" cy="749808"/>
          </a:xfrm>
          <a:prstGeom prst="roundRect">
            <a:avLst/>
          </a:prstGeom>
          <a:solidFill>
            <a:srgbClr val="0C3040"/>
          </a:solidFill>
          <a:ln w="10160">
            <a:solidFill>
              <a:srgbClr val="38BDF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420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450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Model Layer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60120" y="2743200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neural network: quantization, pruning, knowledge distillation applied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772400" y="2468880"/>
            <a:ext cx="100584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7772400" y="2468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Today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389120" y="3127248"/>
            <a:ext cx="1097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274320" y="3236976"/>
            <a:ext cx="8595360" cy="749808"/>
          </a:xfrm>
          <a:prstGeom prst="roundRect">
            <a:avLst/>
          </a:prstGeom>
          <a:solidFill>
            <a:srgbClr val="0F2027"/>
          </a:solidFill>
          <a:ln w="10160">
            <a:solidFill>
              <a:srgbClr val="A78BFA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0156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Runtime Layer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3602736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engine: ONNX Runtime, TensorRT, TFLite, OpenVINO, CoreML, SNPE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772400" y="3328416"/>
            <a:ext cx="1005840" cy="256032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7772400" y="33284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Today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389120" y="3986784"/>
            <a:ext cx="1097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274320" y="4096512"/>
            <a:ext cx="8595360" cy="749808"/>
          </a:xfrm>
          <a:prstGeom prst="roundRect">
            <a:avLst/>
          </a:prstGeom>
          <a:solidFill>
            <a:srgbClr val="0C3040"/>
          </a:solidFill>
          <a:ln w="10160">
            <a:solidFill>
              <a:srgbClr val="38BDF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6110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4169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Hardware Layer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60120" y="446227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compute: CPU, GPU, NPU, TPU, FPGA, or dedicated AI accelerator chip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— You Only Look Once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standard for real-time object detection at the edge — single forward pass through the network.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5120640" cy="658368"/>
          </a:xfrm>
          <a:prstGeom prst="roundRect">
            <a:avLst/>
          </a:prstGeom>
          <a:solidFill>
            <a:srgbClr val="1E293B"/>
          </a:solidFill>
          <a:ln w="889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060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Detection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13167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boxes AND class probabilities simultaneously in one pass — no proposal generation bottleneck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1755648"/>
            <a:ext cx="5120640" cy="658368"/>
          </a:xfrm>
          <a:prstGeom prst="roundRect">
            <a:avLst/>
          </a:prstGeom>
          <a:solidFill>
            <a:srgbClr val="1E293B"/>
          </a:solidFill>
          <a:ln w="889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9280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18105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(v8+)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14400" y="20665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keypoint prediction — better generalization to unusual object shapes and aspect ratios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74320" y="2505456"/>
            <a:ext cx="5120640" cy="658368"/>
          </a:xfrm>
          <a:prstGeom prst="roundRect">
            <a:avLst/>
          </a:prstGeom>
          <a:solidFill>
            <a:srgbClr val="1E293B"/>
          </a:solidFill>
          <a:ln w="889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4261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560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Sizes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14400" y="28163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(3.2M params) to Extra-Large (68.2M params) — choose based on hardware constraints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274320" y="3255264"/>
            <a:ext cx="5120640" cy="658368"/>
          </a:xfrm>
          <a:prstGeom prst="roundRect">
            <a:avLst/>
          </a:prstGeom>
          <a:solidFill>
            <a:srgbClr val="1E293B"/>
          </a:solidFill>
          <a:ln w="889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92424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310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Support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914400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segmentation, pose estimation, classification, oriented bounding boxes — one API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5577840" y="1005840"/>
            <a:ext cx="3291840" cy="38404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6"/>
          <p:cNvSpPr/>
          <p:nvPr/>
        </p:nvSpPr>
        <p:spPr>
          <a:xfrm>
            <a:off x="5577840" y="1005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577840" y="1426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6492240" y="1426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7205472" y="14264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7863840" y="1426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ms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5559552" y="1682496"/>
            <a:ext cx="3328416" cy="425437"/>
          </a:xfrm>
          <a:prstGeom prst="roundRect">
            <a:avLst/>
          </a:prstGeom>
          <a:solidFill>
            <a:srgbClr val="134E4A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2"/>
          <p:cNvSpPr/>
          <p:nvPr/>
        </p:nvSpPr>
        <p:spPr>
          <a:xfrm>
            <a:off x="5577840" y="1773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492240" y="17739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3.2M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7205472" y="17739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7863840" y="17739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~80ms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8577072" y="1719072"/>
            <a:ext cx="256032" cy="34747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8577072" y="1719072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577840" y="22768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492240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11.2M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7205472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7863840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~130ms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5577840" y="27797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6492240" y="27797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25.9M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7205472" y="27797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7863840" y="27797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~240ms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5577840" y="3282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YOLOv8l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6492240" y="32826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43.7M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7205472" y="32826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7863840" y="32826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~400ms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5577840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YOLOv8x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6492240" y="37856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68.2M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7205472" y="37856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7863840" y="37856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~600ms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5577840" y="4389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We use YOLOv8n (Nano) for all lab exercises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 — Environment Setup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58368"/>
            <a:ext cx="4206240" cy="201168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438912" cy="4389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84048" y="749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74980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804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Python 3.11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11887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python.org/downloads → Python 3.11.x 64-bit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11480" y="152704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✓ 'Add python.exe to PATH'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11480" y="18653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python --version → Python 3.11.x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048" y="2231136"/>
            <a:ext cx="3986784" cy="338328"/>
          </a:xfrm>
          <a:prstGeom prst="roundRect">
            <a:avLst/>
          </a:prstGeom>
          <a:solidFill>
            <a:srgbClr val="2D1A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457200" y="2231136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 NOT use Python 3.12+ (package compatibility issues)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663440" y="658368"/>
            <a:ext cx="4206240" cy="201168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4773168" y="74980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4773168" y="749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74980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85232" y="804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VS Code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00600" y="11887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 → latest stable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800600" y="152704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'Add to PATH' during install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00600" y="18653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extension (ms-python.python)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73168" y="2231136"/>
            <a:ext cx="3986784" cy="338328"/>
          </a:xfrm>
          <a:prstGeom prst="roundRect">
            <a:avLst/>
          </a:prstGeom>
          <a:solidFill>
            <a:srgbClr val="2D1A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4846320" y="2231136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Also install Pylance, Jupyter, GitLens extensions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74320" y="2807208"/>
            <a:ext cx="4206240" cy="201168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384048" y="2898648"/>
            <a:ext cx="438912" cy="4389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384048" y="2898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898648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6112" y="29535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Virtual Environment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11480" y="33375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edge-ai-project &amp;&amp; cd edge-ai-project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11480" y="36758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venv venv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11480" y="401421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.\venv\Scripts\Activate.ps1 (PowerShell)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84048" y="4379976"/>
            <a:ext cx="3986784" cy="338328"/>
          </a:xfrm>
          <a:prstGeom prst="roundRect">
            <a:avLst/>
          </a:prstGeom>
          <a:solidFill>
            <a:srgbClr val="2D1A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457200" y="4379976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If error: Set-ExecutionPolicy RemoteSigned -Scope CurrentUser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4663440" y="2807208"/>
            <a:ext cx="4206240" cy="201168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0"/>
          <p:cNvSpPr/>
          <p:nvPr/>
        </p:nvSpPr>
        <p:spPr>
          <a:xfrm>
            <a:off x="4773168" y="289864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1"/>
          <p:cNvSpPr/>
          <p:nvPr/>
        </p:nvSpPr>
        <p:spPr>
          <a:xfrm>
            <a:off x="4773168" y="2898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898648"/>
            <a:ext cx="384048" cy="38404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285232" y="29535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4800600" y="33375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ultralytics opencv-python numpy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800600" y="36758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torch onnxruntime matplotlib psutil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4800600" y="401421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773168" y="4379976"/>
            <a:ext cx="3986784" cy="338328"/>
          </a:xfrm>
          <a:prstGeom prst="roundRect">
            <a:avLst/>
          </a:prstGeom>
          <a:solidFill>
            <a:srgbClr val="2D1A0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7"/>
          <p:cNvSpPr/>
          <p:nvPr/>
        </p:nvSpPr>
        <p:spPr>
          <a:xfrm>
            <a:off x="4846320" y="4379976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GPU users: pip install onnxruntime-gpu (then test with nvidia-smi)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Verification — 4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06240" cy="20116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640080" cy="25603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" y="749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gpu_test.py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0424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&amp; GPU check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023360" cy="658368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print(torch.__version__)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print(torch.cuda.is_available())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4023360" cy="585216"/>
          </a:xfrm>
          <a:prstGeom prst="roundRect">
            <a:avLst/>
          </a:prstGeom>
          <a:solidFill>
            <a:srgbClr val="0A1F0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38912" y="200253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Expected: PyTorch version: 2.x.x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available: True (or False)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63440" y="658368"/>
            <a:ext cx="4206240" cy="20116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640080" cy="25603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0" y="7498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40680" y="749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nvidia-smi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10424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driver check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4023360" cy="658368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0" y="13167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nvidia-smi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1975104"/>
            <a:ext cx="4023360" cy="585216"/>
          </a:xfrm>
          <a:prstGeom prst="roundRect">
            <a:avLst/>
          </a:prstGeom>
          <a:solidFill>
            <a:srgbClr val="0A1F0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28032" y="200253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Expected: GPU table with name, driver, CUDA version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'not recognized' = no GPU (use CPU mode)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2807208"/>
            <a:ext cx="4206240" cy="20116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2898648"/>
            <a:ext cx="640080" cy="25603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28986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1560" y="2898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test_opencv.py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31912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&amp; webcam check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4023360" cy="658368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7200" y="346557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print(cv2.__version__)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= cv2.VideoCapture(0)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cap.isOpened(): print('Webcam OK')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4123944"/>
            <a:ext cx="4023360" cy="585216"/>
          </a:xfrm>
          <a:prstGeom prst="roundRect">
            <a:avLst/>
          </a:prstGeom>
          <a:solidFill>
            <a:srgbClr val="0A1F0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38912" y="415137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Expected: OpenCV version: 4.x.x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OK — Frame size: 640x480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63440" y="2807208"/>
            <a:ext cx="4206240" cy="20116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754880" y="2898648"/>
            <a:ext cx="640080" cy="25603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754880" y="28986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40680" y="2898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test_yolo.py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31912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model check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4023360" cy="658368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846320" y="346557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print(f'{len(model.names)} classes')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4123944"/>
            <a:ext cx="4023360" cy="585216"/>
          </a:xfrm>
          <a:prstGeom prst="roundRect">
            <a:avLst/>
          </a:prstGeom>
          <a:solidFill>
            <a:srgbClr val="0A1F0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828032" y="415137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Expected: Model loaded: 80 classes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OK — 0 detections on noise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 — YOLO Model Deployment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58368"/>
            <a:ext cx="4206240" cy="2148840"/>
          </a:xfrm>
          <a:prstGeom prst="roundRect">
            <a:avLst>
              <a:gd name="adj" fmla="val 4125"/>
            </a:avLst>
          </a:prstGeom>
          <a:solidFill>
            <a:srgbClr val="0F2A2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47472" y="6583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6.1  Model Exploration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98755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lab_6_1_model_info.py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84048" y="1234440"/>
            <a:ext cx="3977640" cy="10515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02920" y="1261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sum(p.numel() for p 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model.model.parameters())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print(f'Classes: {len(model.names)}')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print(f'Params: {params:,}')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84048" y="2331720"/>
            <a:ext cx="3977640" cy="384048"/>
          </a:xfrm>
          <a:prstGeom prst="roundRect">
            <a:avLst/>
          </a:prstGeom>
          <a:solidFill>
            <a:srgbClr val="0A1A0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57200" y="2340864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80 classes · 3,157,200 total parameters · YOLOv8n on COCO 2017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63440" y="658368"/>
            <a:ext cx="4206240" cy="2148840"/>
          </a:xfrm>
          <a:prstGeom prst="roundRect">
            <a:avLst>
              <a:gd name="adj" fmla="val 3677"/>
            </a:avLst>
          </a:prstGeom>
          <a:solidFill>
            <a:srgbClr val="0F2A2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736592" y="6583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6.2  Real-Time Webcam Detection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36592" y="98755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lab_6_2_webcam_detection.py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73168" y="1234440"/>
            <a:ext cx="3977640" cy="10515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892040" y="1261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= cv2.VideoCapture(0, cv2.CAP_DSHOW)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cap.set(cv2.CAP_PROP_FRAME_WIDTH, 1280)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ret, frame = cap.read()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 = model(frame, conf=0.5)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annotated = results[0].plot()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cv2.imshow('Detection', annotated)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cv2.waitKey(1) &amp; 0xFF == ord('q'):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73168" y="2331720"/>
            <a:ext cx="3977640" cy="384048"/>
          </a:xfrm>
          <a:prstGeom prst="roundRect">
            <a:avLst/>
          </a:prstGeom>
          <a:solidFill>
            <a:srgbClr val="0A1A0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846320" y="2340864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annotated window · FPS counter · Press Q to quit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 Inference Pipeline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74320" y="3200400"/>
            <a:ext cx="1298448" cy="914400"/>
          </a:xfrm>
          <a:prstGeom prst="roundRect">
            <a:avLst/>
          </a:prstGeom>
          <a:solidFill>
            <a:srgbClr val="0C4A6E"/>
          </a:solidFill>
          <a:ln w="6350">
            <a:solidFill>
              <a:srgbClr val="38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74320" y="329184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572768" y="35478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709928" y="3200400"/>
            <a:ext cx="1298448" cy="914400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38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709928" y="329184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55648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08376" y="35478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145536" y="3200400"/>
            <a:ext cx="1298448" cy="914400"/>
          </a:xfrm>
          <a:prstGeom prst="roundRect">
            <a:avLst/>
          </a:prstGeom>
          <a:solidFill>
            <a:srgbClr val="0C4A6E"/>
          </a:solidFill>
          <a:ln w="6350">
            <a:solidFill>
              <a:srgbClr val="38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3145536" y="329184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191256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443984" y="35478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81144" y="3200400"/>
            <a:ext cx="1298448" cy="914400"/>
          </a:xfrm>
          <a:prstGeom prst="roundRect">
            <a:avLst/>
          </a:prstGeom>
          <a:solidFill>
            <a:srgbClr val="7C1D1D"/>
          </a:solidFill>
          <a:ln w="6350">
            <a:solidFill>
              <a:srgbClr val="38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4581144" y="329184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26864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879592" y="35478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16752" y="3200400"/>
            <a:ext cx="1298448" cy="914400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38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6016752" y="329184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062472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315200" y="35478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452360" y="3200400"/>
            <a:ext cx="1298448" cy="914400"/>
          </a:xfrm>
          <a:prstGeom prst="roundRect">
            <a:avLst/>
          </a:prstGeom>
          <a:solidFill>
            <a:srgbClr val="0C4A6E"/>
          </a:solidFill>
          <a:ln w="6350">
            <a:solidFill>
              <a:srgbClr val="38BDF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7452360" y="329184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98080" y="3456432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0C2340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384048" y="4233672"/>
            <a:ext cx="8366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Troubleshooting Tips: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screen → try camera index 1 or 2.  |  Slow FPS → reduce frame resolution or confidence threshold.  |  Camera busy → close Zoom/Teams/OBS before running.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Export &amp; Performance Benchmarking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ONNX?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2412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033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optimization: operator fusion, constant folding, memory planning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48132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1490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Windows, Linux, macOS, Android, iOS — one file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93852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520" y="1947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acceleration: CUDA, TensorRT, DirectML, OpenVINO, CoreML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39572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31520" y="2404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footprint: ~50 MB runtime vs ~2 GB full PyTorch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365760" y="2944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6.3 — Export to ONNX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65760" y="3255264"/>
            <a:ext cx="4572000" cy="1051560"/>
          </a:xfrm>
          <a:prstGeom prst="roundRect">
            <a:avLst>
              <a:gd name="adj" fmla="val 4768"/>
            </a:avLst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9"/>
          <p:cNvSpPr/>
          <p:nvPr/>
        </p:nvSpPr>
        <p:spPr>
          <a:xfrm>
            <a:off x="475488" y="3305302"/>
            <a:ext cx="4352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export_path = model.export(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format='onnx',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imgsz=640,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simplify=True,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opset=17,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dynamic=False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5120640" y="658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6.5 — Benchmark Results (CPU Example)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22951716"/>
              </p:ext>
            </p:extLst>
          </p:nvPr>
        </p:nvGraphicFramePr>
        <p:xfrm>
          <a:off x="5029200" y="1005840"/>
          <a:ext cx="3840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9" name="Shape 11"/>
          <p:cNvSpPr/>
          <p:nvPr/>
        </p:nvSpPr>
        <p:spPr>
          <a:xfrm>
            <a:off x="5029200" y="3657600"/>
            <a:ext cx="3840480" cy="502920"/>
          </a:xfrm>
          <a:prstGeom prst="roundRect">
            <a:avLst/>
          </a:prstGeom>
          <a:solidFill>
            <a:srgbClr val="134E4A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2"/>
          <p:cNvSpPr/>
          <p:nvPr/>
        </p:nvSpPr>
        <p:spPr>
          <a:xfrm>
            <a:off x="512064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ONNX: 20% faster latency · 26% higher FPS · works without PyTorch on deployment device</a:t>
            </a:r>
            <a:endParaRPr lang="en-US" sz="850" dirty="0"/>
          </a:p>
        </p:txBody>
      </p:sp>
      <p:sp>
        <p:nvSpPr>
          <p:cNvPr id="21" name="Shape 13"/>
          <p:cNvSpPr/>
          <p:nvPr/>
        </p:nvSpPr>
        <p:spPr>
          <a:xfrm>
            <a:off x="274320" y="4398264"/>
            <a:ext cx="8595360" cy="658368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4"/>
          <p:cNvSpPr/>
          <p:nvPr/>
        </p:nvSpPr>
        <p:spPr>
          <a:xfrm>
            <a:off x="457200" y="4462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57200" y="4636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.pt vs .onnx — what's stored differently?   </a:t>
            </a: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Raspberry Pi: PyTorch or ONNX?   </a:t>
            </a: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discard first 10 warm-up runs?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Optimization for Edge Deployment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58368"/>
            <a:ext cx="4206240" cy="214884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768096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749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68680" y="1024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numerical precision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84048" y="1298448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75488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→ FP16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5488" y="15179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size reduction, &lt;1% accuracy loss. Default GPU start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84048" y="1773936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475488" y="1810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→ INT8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5488" y="199339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reduction, 2–4× speedup. Needs 100–1000 calibration images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84048" y="2249424"/>
            <a:ext cx="3986784" cy="420624"/>
          </a:xfrm>
          <a:prstGeom prst="roundRect">
            <a:avLst/>
          </a:prstGeom>
          <a:solidFill>
            <a:srgbClr val="2A1A0D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75488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75488" y="246888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needed. Smaller speedup than static INT8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663440" y="658368"/>
            <a:ext cx="4206240" cy="214884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76809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749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257800" y="1024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weights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773168" y="1298448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4864608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864608" y="15179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whole filters/layers. Reduces FLOPs directly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4773168" y="1773936"/>
            <a:ext cx="3986784" cy="420624"/>
          </a:xfrm>
          <a:prstGeom prst="roundRect">
            <a:avLst/>
          </a:prstGeom>
          <a:solidFill>
            <a:srgbClr val="2A1A0D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4864608" y="1810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864608" y="199339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individual weights. Needs sparse hardware for speedup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4773168" y="2249424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4864608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Mag.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4864608" y="246888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lowest-magnitude weights globally across all layers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74320" y="2926080"/>
            <a:ext cx="4206240" cy="214884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35808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686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Distillation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868680" y="3291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→ Student transfer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384048" y="3566160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475488" y="3602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475488" y="378561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learns from teacher's probability distribution (dark knowledge)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384048" y="4041648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3"/>
          <p:cNvSpPr/>
          <p:nvPr/>
        </p:nvSpPr>
        <p:spPr>
          <a:xfrm>
            <a:off x="475488" y="40782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Mimic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475488" y="42611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intermediate activations, not just final output logits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384048" y="4517136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6"/>
          <p:cNvSpPr/>
          <p:nvPr/>
        </p:nvSpPr>
        <p:spPr>
          <a:xfrm>
            <a:off x="475488" y="4553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475488" y="473659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student outperforms same-arch model trained from scratch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4663440" y="2926080"/>
            <a:ext cx="4206240" cy="214884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14B8A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035808"/>
            <a:ext cx="365760" cy="36576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2578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Selection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5257800" y="3291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edge-optimized models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4773168" y="3566160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2"/>
          <p:cNvSpPr/>
          <p:nvPr/>
        </p:nvSpPr>
        <p:spPr>
          <a:xfrm>
            <a:off x="4864608" y="3602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4864608" y="378561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convolutions. Ideal for mobile CPU inference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4773168" y="4041648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5"/>
          <p:cNvSpPr/>
          <p:nvPr/>
        </p:nvSpPr>
        <p:spPr>
          <a:xfrm>
            <a:off x="4864608" y="40782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EfficientNet-Lite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4864608" y="42611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NAS-optimized scaling. Best accuracy-per-FLOP on constrained devices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4773168" y="4517136"/>
            <a:ext cx="3986784" cy="420624"/>
          </a:xfrm>
          <a:prstGeom prst="roundRect">
            <a:avLst/>
          </a:prstGeom>
          <a:solidFill>
            <a:srgbClr val="0D2A0D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48"/>
          <p:cNvSpPr/>
          <p:nvPr/>
        </p:nvSpPr>
        <p:spPr>
          <a:xfrm>
            <a:off x="4864608" y="4553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Nano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4864608" y="473659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3.2M params, 6.2 MB — runs at 30+ FPS on a laptop CPU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 — Advanced Real-Time Applications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58368"/>
            <a:ext cx="4206240" cy="4389120"/>
          </a:xfrm>
          <a:prstGeom prst="roundRect">
            <a:avLst>
              <a:gd name="adj" fmla="val 1535"/>
            </a:avLst>
          </a:prstGeom>
          <a:solidFill>
            <a:srgbClr val="0F2A2F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74320" y="658368"/>
            <a:ext cx="2286000" cy="29260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47472" y="6583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7.1  Interactive ROI Detection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100584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ROI rectangle with mouse click-drag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" y="13624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count/detect objects inside ROI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17190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FPS, confidence, object count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4048" y="20756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ROI size and area in real-time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2432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statistics panel (person: 3, chair: 1…)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278892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snapshots with S key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314553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logging of all detections with timestamp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5021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confidence: UP/DOWN arrow keys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886200"/>
            <a:ext cx="3977640" cy="1005840"/>
          </a:xfrm>
          <a:prstGeom prst="roundRect">
            <a:avLst/>
          </a:prstGeom>
          <a:solidFill>
            <a:srgbClr val="0A0F1A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57200" y="39136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Controls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4133088"/>
            <a:ext cx="1234440" cy="228600"/>
          </a:xfrm>
          <a:prstGeom prst="roundRect">
            <a:avLst/>
          </a:prstGeom>
          <a:solidFill>
            <a:srgbClr val="0C4A6E"/>
          </a:solidFill>
          <a:ln w="381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11480" y="41330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drag: Draw ROI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709928" y="4133088"/>
            <a:ext cx="1234440" cy="228600"/>
          </a:xfrm>
          <a:prstGeom prst="roundRect">
            <a:avLst/>
          </a:prstGeom>
          <a:solidFill>
            <a:srgbClr val="0C4A6E"/>
          </a:solidFill>
          <a:ln w="381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709928" y="41330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Reset ROI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008376" y="4133088"/>
            <a:ext cx="1234440" cy="228600"/>
          </a:xfrm>
          <a:prstGeom prst="roundRect">
            <a:avLst/>
          </a:prstGeom>
          <a:solidFill>
            <a:srgbClr val="0C4A6E"/>
          </a:solidFill>
          <a:ln w="381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008376" y="41330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Save snapshot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11480" y="4433570"/>
            <a:ext cx="1234440" cy="228600"/>
          </a:xfrm>
          <a:prstGeom prst="roundRect">
            <a:avLst/>
          </a:prstGeom>
          <a:solidFill>
            <a:srgbClr val="0C4A6E"/>
          </a:solidFill>
          <a:ln w="381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11480" y="443357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↑/↓: Confidence ±0.05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709928" y="4433570"/>
            <a:ext cx="1234440" cy="228600"/>
          </a:xfrm>
          <a:prstGeom prst="roundRect">
            <a:avLst/>
          </a:prstGeom>
          <a:solidFill>
            <a:srgbClr val="0C4A6E"/>
          </a:solidFill>
          <a:ln w="381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1709928" y="443357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Quit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663440" y="658368"/>
            <a:ext cx="4206240" cy="4389120"/>
          </a:xfrm>
          <a:prstGeom prst="roundRect">
            <a:avLst>
              <a:gd name="adj" fmla="val 1109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736592" y="6583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7.3  People Counter with Alert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987552"/>
            <a:ext cx="4023360" cy="2011680"/>
          </a:xfrm>
          <a:prstGeom prst="roundRect">
            <a:avLst>
              <a:gd name="adj" fmla="val 4227"/>
            </a:avLst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828032" y="1005840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ALERT_THRESHOLD = 3  # Max people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TARGET_CLASS = 0     # person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= cv2.VideoCapture(0, cv2.CAP_DSHOW)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 = model(frame, conf=0.5)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= sum(1 for b in results[0].boxes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int(b.cls[0]) == TARGET_CLASS)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 = count &gt; ALERT_THRESHOLD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= 'ALERT: OVER CAPACITY'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alert: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cv2.rectangle(frame, (0,0), ..., RED, 8)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4754880" y="3063240"/>
            <a:ext cx="4023360" cy="411480"/>
          </a:xfrm>
          <a:prstGeom prst="roundRect">
            <a:avLst/>
          </a:prstGeom>
          <a:solidFill>
            <a:srgbClr val="0A0F0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84632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count ≤ threshold · green border · status OK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754880" y="3566160"/>
            <a:ext cx="4023360" cy="411480"/>
          </a:xfrm>
          <a:prstGeom prst="roundRect">
            <a:avLst/>
          </a:prstGeom>
          <a:solidFill>
            <a:srgbClr val="0A0F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484632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CAPACITY: count &gt; threshold · red flash border · alert text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54880" y="4114800"/>
            <a:ext cx="4023360" cy="868680"/>
          </a:xfrm>
          <a:prstGeom prst="roundRect">
            <a:avLst/>
          </a:prstGeom>
          <a:solidFill>
            <a:srgbClr val="0F2A0F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4846320" y="42336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Production Use Cases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46320" y="43434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occupancy · warehouse safety zones · clean room limits · MQTT alert triggers · PLC relay activation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05 — Object Tracking &amp; Video Analytics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vs. Tracking — Key Differences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987552"/>
            <a:ext cx="1920240" cy="29260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11480" y="987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377440" y="987552"/>
            <a:ext cx="3383280" cy="29260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423160" y="9875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Only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987552"/>
            <a:ext cx="2926080" cy="29260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897880" y="9875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Tracking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1316736"/>
            <a:ext cx="1920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38912" y="13624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objects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377440" y="1316736"/>
            <a:ext cx="33832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2450592" y="1362456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Bounding boxes + class labels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852160" y="1316736"/>
            <a:ext cx="29260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925312" y="1362456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Plus persistent unique ID per object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" y="1773936"/>
            <a:ext cx="1920240" cy="411480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38912" y="18196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across 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377440" y="1773936"/>
            <a:ext cx="3383280" cy="411480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450592" y="1819656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Same object = new box each frame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852160" y="1773936"/>
            <a:ext cx="2926080" cy="411480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925312" y="1819656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Object keeps ID until it leaves scene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5760" y="2231136"/>
            <a:ext cx="1920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38912" y="22768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counting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377440" y="2231136"/>
            <a:ext cx="33832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2450592" y="2276856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Unreliable — counts same object repeatedly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852160" y="2231136"/>
            <a:ext cx="29260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925312" y="2276856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Accurate — each object counted once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" y="2688336"/>
            <a:ext cx="1920240" cy="411480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38912" y="27340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trajectory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377440" y="2688336"/>
            <a:ext cx="3383280" cy="411480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2450592" y="2734056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possible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852160" y="2688336"/>
            <a:ext cx="2926080" cy="411480"/>
          </a:xfrm>
          <a:prstGeom prst="rect">
            <a:avLst/>
          </a:prstGeom>
          <a:solidFill>
            <a:srgbClr val="151E2D"/>
          </a:solidFill>
          <a:ln w="12700">
            <a:solidFill>
              <a:srgbClr val="151E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5925312" y="2734056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Records position history per ID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65760" y="3145536"/>
            <a:ext cx="1920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438912" y="31912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377440" y="3145536"/>
            <a:ext cx="33832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2450592" y="3191256"/>
            <a:ext cx="3273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possible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852160" y="3145536"/>
            <a:ext cx="29260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5925312" y="3191256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First-seen to last-seen timestamp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74320" y="3631184"/>
            <a:ext cx="4206240" cy="1467866"/>
          </a:xfrm>
          <a:prstGeom prst="roundRect">
            <a:avLst/>
          </a:prstGeom>
          <a:solidFill>
            <a:srgbClr val="0F2A2F"/>
          </a:solidFill>
          <a:ln w="10160">
            <a:solidFill>
              <a:srgbClr val="14B8A6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384048" y="36586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8.1  Real-Time Multi-Object Tracking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84048" y="3892804"/>
            <a:ext cx="3977640" cy="1100836"/>
          </a:xfrm>
          <a:prstGeom prst="roundRect">
            <a:avLst/>
          </a:prstGeom>
          <a:solidFill>
            <a:srgbClr val="0A0F1A"/>
          </a:solidFill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475488" y="3914648"/>
            <a:ext cx="3794760" cy="1100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model.track(frame,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persist=True,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conf=0.5)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trails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box, tid in zip(boxes, ids):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track_history[tid].append(cx, cy)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cv2.line(frame, pts[i-1], pts[i],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(0, alpha, 255), 2)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663440" y="3631184"/>
            <a:ext cx="4206240" cy="1467866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4773168" y="36586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8.2  Bidirectional Line-Crossing Counter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754880" y="3892804"/>
            <a:ext cx="3977640" cy="1100836"/>
          </a:xfrm>
          <a:prstGeom prst="roundRect">
            <a:avLst/>
          </a:prstGeom>
          <a:solidFill>
            <a:srgbClr val="0A0F1A"/>
          </a:solidFill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4864608" y="3892804"/>
            <a:ext cx="3794760" cy="1311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LINE_Y = frame.shape[0] // 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30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prev_y &lt; LINE_Y - OFFSET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curr_y &gt;= LINE_Y - OFFSET: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count_down += 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counted_ids.add(tid)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cv2.line(frame, (0, LINE_Y),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(w, LINE_Y), YELLOW, 3)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06 — Professional Dashboard Development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Dashboards Matter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9875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engineers, and managers need real-time performance metrics, detection statistics, and system health in an intuitive visual format — transforming raw telemetry into actionable insight.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508760"/>
            <a:ext cx="2011680" cy="1371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57276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029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Panel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6576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camera feed with real-time bounding boxes and class labels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423160" y="1508760"/>
            <a:ext cx="2011680" cy="1371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57276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4600" y="2029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251460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FPS, latency histogram, CPU gauge, RAM utilization bars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4572000" y="1508760"/>
            <a:ext cx="2011680" cy="1371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7276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2029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Statistics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66344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counts, confidence distribution, objects-over-time chart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6720840" y="1508760"/>
            <a:ext cx="2011680" cy="1371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7276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2029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Panel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812280" y="2331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temp, memory pressure, disk usage, uptime, alert indicators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274320" y="2971800"/>
            <a:ext cx="4206240" cy="20574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384048" y="29992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9.1 — Progress Bar Helper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84048" y="3291840"/>
            <a:ext cx="3977640" cy="1645920"/>
          </a:xfrm>
          <a:prstGeom prst="roundRect">
            <a:avLst/>
          </a:prstGeom>
          <a:solidFill>
            <a:srgbClr val="0A0F1A"/>
          </a:solidFill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9"/>
          <p:cNvSpPr/>
          <p:nvPr/>
        </p:nvSpPr>
        <p:spPr>
          <a:xfrm>
            <a:off x="475488" y="3310128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draw_bar(canvas, x, y, w, h,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value, max_val, color, label):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fill_w = int(w * min(value/max_val, 1.0))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cv2.rectangle(canvas, (x,y), (x+w,y+h),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DARK_BG, -1)        # background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cv2.rectangle(canvas, (x,y), (x+fill_w,y+h),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color, -1)           # fill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cv2.putText(canvas, f'{label}: {value:.1f}',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(x, y-5), FONT, 0.45, LIGHT, 1)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4663440" y="2971800"/>
            <a:ext cx="4206240" cy="2057400"/>
          </a:xfrm>
          <a:prstGeom prst="roundRect">
            <a:avLst/>
          </a:prstGeom>
          <a:solidFill>
            <a:srgbClr val="0F2A2F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1"/>
          <p:cNvSpPr/>
          <p:nvPr/>
        </p:nvSpPr>
        <p:spPr>
          <a:xfrm>
            <a:off x="4754880" y="29992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Best Practices</a:t>
            </a:r>
            <a:endParaRPr lang="en-US" sz="9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310128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47488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Rate: smooth FPS with 5–10 frame moving average</a:t>
            </a:r>
            <a:endParaRPr lang="en-US" sz="8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63931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047488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Coding: green=normal, yellow=warning, red=critical</a:t>
            </a:r>
            <a:endParaRPr lang="en-US" sz="8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3968496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47488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Hierarchy: critical info at top (FPS, alerts)</a:t>
            </a:r>
            <a:endParaRPr lang="en-US" sz="85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297680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047488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Theme: standard for control rooms, reduces eye strain</a:t>
            </a:r>
            <a:endParaRPr lang="en-US" sz="85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4626864"/>
            <a:ext cx="219456" cy="2194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047488" y="4626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Layout: relative positioning for any resolution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07 — Capstone Deployment Projects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at least 2 of 3 projects. Each integrates multiple techniques into a portfolio-ready application.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28600" y="987552"/>
            <a:ext cx="2880360" cy="4069080"/>
          </a:xfrm>
          <a:prstGeom prst="roundRect">
            <a:avLst>
              <a:gd name="adj" fmla="val 3634"/>
            </a:avLst>
          </a:prstGeom>
          <a:solidFill>
            <a:srgbClr val="0F2A3F"/>
          </a:solidFill>
          <a:ln w="12700">
            <a:solidFill>
              <a:srgbClr val="38BDF8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338328" y="1024128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3832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051560"/>
            <a:ext cx="384048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5528" y="1078992"/>
            <a:ext cx="822960" cy="201168"/>
          </a:xfrm>
          <a:prstGeom prst="roundRect">
            <a:avLst/>
          </a:prstGeom>
          <a:solidFill>
            <a:srgbClr val="0A1A2F"/>
          </a:solidFill>
          <a:ln w="381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795528" y="10789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20040" y="150876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Parking Occupancy Monitor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parking area, count vehicles, display occupancy with color-coded status, log to CSV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20040" y="25968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20040" y="279806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car/truck/motorcycle/bus in defined ROI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20040" y="30906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status: green/yellow/red by % full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20040" y="33832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occupancy every 5 seconds to CSV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20040" y="36758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panel: count, capacity, utilization %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20040" y="4069080"/>
            <a:ext cx="2697480" cy="896112"/>
          </a:xfrm>
          <a:prstGeom prst="roundRect">
            <a:avLst/>
          </a:prstGeom>
          <a:solidFill>
            <a:srgbClr val="0A1515"/>
          </a:solidFill>
          <a:ln w="508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411480" y="409651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used: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11480" y="427939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filtering (Lab 7.1)  ·  Class counting (Lab 7.3)  ·  CSV logging  ·  OpenCV panels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00400" y="987552"/>
            <a:ext cx="2880360" cy="4069080"/>
          </a:xfrm>
          <a:prstGeom prst="roundRect">
            <a:avLst>
              <a:gd name="adj" fmla="val 3802"/>
            </a:avLst>
          </a:prstGeom>
          <a:solidFill>
            <a:srgbClr val="1A2A0F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3310128" y="1024128"/>
            <a:ext cx="438912" cy="43891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331012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051560"/>
            <a:ext cx="384048" cy="38404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3767328" y="1078992"/>
            <a:ext cx="822960" cy="201168"/>
          </a:xfrm>
          <a:prstGeom prst="roundRect">
            <a:avLst/>
          </a:prstGeom>
          <a:solidFill>
            <a:srgbClr val="0A1A2F"/>
          </a:solidFill>
          <a:ln w="381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3767328" y="10789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3291840" y="150876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PPE Safety Inspector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29184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workers, verify hard hat compliance, alert on violations, generate audit-ready CSV report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3291840" y="25968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291840" y="279806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'person' class (class 0)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291840" y="30906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upper-body region for helmet overlap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291840" y="33832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Green/red border for compliant/non-compliant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3291840" y="36758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violations to violations/ directory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291840" y="4069080"/>
            <a:ext cx="2697480" cy="896112"/>
          </a:xfrm>
          <a:prstGeom prst="roundRect">
            <a:avLst/>
          </a:prstGeom>
          <a:solidFill>
            <a:srgbClr val="0A1515"/>
          </a:solidFill>
          <a:ln w="508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3383280" y="409651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used: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3383280" y="427939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  ·  Bounding box geometry  ·  Alert system  ·  Session reports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6172200" y="987552"/>
            <a:ext cx="2880360" cy="4069080"/>
          </a:xfrm>
          <a:prstGeom prst="roundRect">
            <a:avLst>
              <a:gd name="adj" fmla="val 3802"/>
            </a:avLst>
          </a:prstGeom>
          <a:solidFill>
            <a:srgbClr val="2A1F0A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4"/>
          <p:cNvSpPr/>
          <p:nvPr/>
        </p:nvSpPr>
        <p:spPr>
          <a:xfrm>
            <a:off x="6281928" y="102412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5"/>
          <p:cNvSpPr/>
          <p:nvPr/>
        </p:nvSpPr>
        <p:spPr>
          <a:xfrm>
            <a:off x="628192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1051560"/>
            <a:ext cx="384048" cy="384048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739128" y="1078992"/>
            <a:ext cx="822960" cy="201168"/>
          </a:xfrm>
          <a:prstGeom prst="roundRect">
            <a:avLst/>
          </a:prstGeom>
          <a:solidFill>
            <a:srgbClr val="3B1E00"/>
          </a:solidFill>
          <a:ln w="38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7"/>
          <p:cNvSpPr/>
          <p:nvPr/>
        </p:nvSpPr>
        <p:spPr>
          <a:xfrm>
            <a:off x="6739128" y="10789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6263640" y="150876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Customer Flow Analytics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26364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shoppers, count entries/exits via line-crossing, measure dwell time, generate analytics report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6263640" y="25968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263640" y="279806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tracking with persistent IDs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6263640" y="30906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line-crossing counter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6263640" y="33832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per unique ID (first/last seen)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6263640" y="36758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CSV + matplotlib histogram PNG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6263640" y="4069080"/>
            <a:ext cx="2697480" cy="896112"/>
          </a:xfrm>
          <a:prstGeom prst="roundRect">
            <a:avLst/>
          </a:prstGeom>
          <a:solidFill>
            <a:srgbClr val="0A1515"/>
          </a:solidFill>
          <a:ln w="508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6"/>
          <p:cNvSpPr/>
          <p:nvPr/>
        </p:nvSpPr>
        <p:spPr>
          <a:xfrm>
            <a:off x="6355080" y="409651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used: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6355080" y="427939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model.track() (Lab 8.1)  ·  Line crossing (Lab 8.2)  ·  Dwell analysis  ·  Matplotlib charts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08 — Emerging &amp; Future Edge AI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58368"/>
            <a:ext cx="4206240" cy="210312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786384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7498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Processing Units (NPUs)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68680" y="1060704"/>
            <a:ext cx="1371600" cy="201168"/>
          </a:xfrm>
          <a:prstGeom prst="roundRect">
            <a:avLst/>
          </a:prstGeom>
          <a:solidFill>
            <a:srgbClr val="0F172A"/>
          </a:solidFill>
          <a:ln w="381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868680" y="1060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2027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11480" y="13167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Meteor Lake, AMD Ryzen AI, Apple Neural Engine, Qualcomm Hexagon — 10–45 TOPS at 5–15 watts. Every laptop by 2027 will have built-in AI acceleration for YOLO-class models at 30+ FPS.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63440" y="658368"/>
            <a:ext cx="4206240" cy="2103120"/>
          </a:xfrm>
          <a:prstGeom prst="roundRect">
            <a:avLst/>
          </a:prstGeom>
          <a:solidFill>
            <a:srgbClr val="1F1040"/>
          </a:solidFill>
          <a:ln w="10160">
            <a:solidFill>
              <a:srgbClr val="A78BFA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78638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7498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257800" y="1060704"/>
            <a:ext cx="1371600" cy="201168"/>
          </a:xfrm>
          <a:prstGeom prst="roundRect">
            <a:avLst/>
          </a:prstGeom>
          <a:solidFill>
            <a:srgbClr val="0F172A"/>
          </a:solidFill>
          <a:ln w="381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5257800" y="1060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now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4800600" y="13167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on microcontrollers with 256 KB RAM. TensorFlow Lite Micro, Edge Impulse, Apache TVM. Hearing aids, smart sensors, predictive maintenance, agriculture monitoring — under $5 hardware.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4320" y="2880360"/>
            <a:ext cx="4206240" cy="2103120"/>
          </a:xfrm>
          <a:prstGeom prst="roundRect">
            <a:avLst/>
          </a:prstGeom>
          <a:solidFill>
            <a:srgbClr val="134E4A"/>
          </a:solidFill>
          <a:ln w="10160">
            <a:solidFill>
              <a:srgbClr val="14B8A6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083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2971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 at the Edge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68680" y="3282696"/>
            <a:ext cx="1371600" cy="201168"/>
          </a:xfrm>
          <a:prstGeom prst="roundRect">
            <a:avLst/>
          </a:prstGeom>
          <a:solidFill>
            <a:srgbClr val="0F172A"/>
          </a:solidFill>
          <a:ln w="381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86868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2026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411480" y="3538728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many devices without centralizing data. Each device shares only weight gradients. Preserves privacy, reduces bandwidth. Google Gboard and Apple Siri use this today in production.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63440" y="2880360"/>
            <a:ext cx="4206240" cy="2103120"/>
          </a:xfrm>
          <a:prstGeom prst="roundRect">
            <a:avLst/>
          </a:prstGeom>
          <a:solidFill>
            <a:srgbClr val="1E3A5F"/>
          </a:solidFill>
          <a:ln w="10160">
            <a:solidFill>
              <a:srgbClr val="60A5FA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00837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57800" y="2971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LLMs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257800" y="3282696"/>
            <a:ext cx="1371600" cy="201168"/>
          </a:xfrm>
          <a:prstGeom prst="roundRect">
            <a:avLst/>
          </a:prstGeom>
          <a:solidFill>
            <a:srgbClr val="0F172A"/>
          </a:solidFill>
          <a:ln w="381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0"/>
          <p:cNvSpPr/>
          <p:nvPr/>
        </p:nvSpPr>
        <p:spPr>
          <a:xfrm>
            <a:off x="5257800" y="3282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2025–2027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4800600" y="3538728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(8B) running on 8 GB RAM laptops via 4-bit quantization (GPTQ, AWQ). Private AI assistants, offline document analysis, code completion — no cloud needed. Maturing fast.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Commands &amp; Resources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880360" cy="32004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Commands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880360" cy="1874520"/>
          </a:xfrm>
          <a:prstGeom prst="roundRect">
            <a:avLst/>
          </a:prstGeom>
          <a:solidFill>
            <a:srgbClr val="0A0F1A"/>
          </a:solidFill>
          <a:ln w="635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06984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.\venv\Scripts\Activate.ps1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1122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 torchvision --index-url ...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4597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onnxruntime-gpu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27832" y="658368"/>
            <a:ext cx="2880360" cy="32004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19272" y="65836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Scripts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7832" y="1005840"/>
            <a:ext cx="2880360" cy="1874520"/>
          </a:xfrm>
          <a:prstGeom prst="roundRect">
            <a:avLst/>
          </a:prstGeom>
          <a:solidFill>
            <a:srgbClr val="0A0F1A"/>
          </a:solidFill>
          <a:ln w="635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19272" y="106984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gpu_test.py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9272" y="141732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nvidia-smi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9272" y="176479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test_opencv.py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9272" y="21122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test_yolo.py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9272" y="24597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lab_6_1_model_info.py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27064" y="658368"/>
            <a:ext cx="2880360" cy="3200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318504" y="65836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Key APIs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27064" y="1005840"/>
            <a:ext cx="2880360" cy="1874520"/>
          </a:xfrm>
          <a:prstGeom prst="roundRect">
            <a:avLst/>
          </a:prstGeom>
          <a:solidFill>
            <a:srgbClr val="0A0F1A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18504" y="106984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18504" y="141732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model(frame, conf=0.5)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18504" y="176479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model.track(frame, persist=True)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18504" y="21122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model.export(format='onnx', imgsz=640)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18504" y="24597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ort.InferenceSession('model.onnx')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1821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Documentation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2880360" cy="475488"/>
          </a:xfrm>
          <a:prstGeom prst="roundRect">
            <a:avLst/>
          </a:prstGeom>
          <a:solidFill>
            <a:srgbClr val="1E293B"/>
          </a:solidFill>
          <a:ln w="508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657600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13232" y="3584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 Docs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3232" y="37947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docs.ultralytics.com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246120" y="3547872"/>
            <a:ext cx="2880360" cy="475488"/>
          </a:xfrm>
          <a:prstGeom prst="roundRect">
            <a:avLst/>
          </a:prstGeom>
          <a:solidFill>
            <a:srgbClr val="1E293B"/>
          </a:solidFill>
          <a:ln w="508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657600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685032" y="3584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Python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685032" y="37947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docs.opencv.org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217920" y="3547872"/>
            <a:ext cx="2880360" cy="475488"/>
          </a:xfrm>
          <a:prstGeom prst="roundRect">
            <a:avLst/>
          </a:prstGeom>
          <a:solidFill>
            <a:srgbClr val="1E293B"/>
          </a:solidFill>
          <a:ln w="508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57600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656832" y="3584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656832" y="37947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onnxruntime.ai/docs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274320" y="4114800"/>
            <a:ext cx="2880360" cy="475488"/>
          </a:xfrm>
          <a:prstGeom prst="roundRect">
            <a:avLst/>
          </a:prstGeom>
          <a:solidFill>
            <a:srgbClr val="1E293B"/>
          </a:solidFill>
          <a:ln w="508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224528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13232" y="415137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713232" y="436168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pytorch.org/docs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3246120" y="4114800"/>
            <a:ext cx="2880360" cy="475488"/>
          </a:xfrm>
          <a:prstGeom prst="roundRect">
            <a:avLst/>
          </a:prstGeom>
          <a:solidFill>
            <a:srgbClr val="1E293B"/>
          </a:solidFill>
          <a:ln w="508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4224528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685032" y="415137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685032" y="436168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developer.nvidia.com/tensorrt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6217920" y="4114800"/>
            <a:ext cx="2880360" cy="475488"/>
          </a:xfrm>
          <a:prstGeom prst="roundRect">
            <a:avLst/>
          </a:prstGeom>
          <a:solidFill>
            <a:srgbClr val="1E293B"/>
          </a:solidFill>
          <a:ln w="508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4224528"/>
            <a:ext cx="256032" cy="25603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656832" y="415137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(TinyML)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6656832" y="436168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docs.edgeimpulse.com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Complete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independently design, build, deploy, benchmark, and optimize a production-grade Edge AI inference pipeline on a standard Windows workstation — with zero cloud dependencies.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26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Session Competency Target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95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816352"/>
            <a:ext cx="2834640" cy="74980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809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8895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runs inference on local hardware — no cloud required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27832" y="2816352"/>
            <a:ext cx="2834640" cy="74980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9809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58184" y="28895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delivers real-time detection at 20–30 FPS on CPU alone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81344" y="2816352"/>
            <a:ext cx="2834640" cy="74980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9809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11696" y="28895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Runtime: lighter, faster, cross-platform inference engine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74320" y="3730752"/>
            <a:ext cx="2834640" cy="74980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8953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38039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quantization: 50% size reduction, &lt;1% accuracy loss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3227832" y="3730752"/>
            <a:ext cx="2834640" cy="74980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89534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58184" y="38039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model.track() adds persistent IDs for counting and analytics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6181344" y="3730752"/>
            <a:ext cx="2834640" cy="74980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0D9488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895344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11696" y="38039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NPUs in every laptop by 2027 — Edge AI is the career frontier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274320" y="486460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Management / National Polytechnic Institute of Cambodia  ·  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4733</Words>
  <Application>Microsoft Office PowerPoint</Application>
  <PresentationFormat>On-screen Show (16:9)</PresentationFormat>
  <Paragraphs>700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AI &amp; Machine Learning Inference</dc:title>
  <dc:subject>PptxGenJS Presentation</dc:subject>
  <dc:creator>National University of Management</dc:creator>
  <cp:lastModifiedBy>NHEK SROS</cp:lastModifiedBy>
  <cp:revision>2</cp:revision>
  <dcterms:created xsi:type="dcterms:W3CDTF">2026-06-15T06:18:27Z</dcterms:created>
  <dcterms:modified xsi:type="dcterms:W3CDTF">2026-06-15T08:21:47Z</dcterms:modified>
</cp:coreProperties>
</file>